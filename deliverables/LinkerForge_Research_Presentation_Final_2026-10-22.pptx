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8a9975744ab4bb0" /><Relationship Type="http://schemas.openxmlformats.org/officeDocument/2006/relationships/extended-properties" Target="/docProps/app.xml" Id="R280de86e90bf4415" /><Relationship Type="http://schemas.openxmlformats.org/officeDocument/2006/relationships/officeDocument" Target="/ppt/presentation.xml" Id="R2b8670185b844541" /></Relationships>
</file>

<file path=ppt/presentation.xml><?xml version="1.0" encoding="utf-8"?>
<p:presentation xmlns:p="http://schemas.openxmlformats.org/presentationml/2006/main">
  <p:sldMasterIdLst>
    <p:sldMasterId xmlns:r="http://schemas.openxmlformats.org/officeDocument/2006/relationships" id="2147483648" r:id="Rc34474c7fe95457c"/>
  </p:sldMasterIdLst>
  <p:notesMasterIdLst>
    <p:notesMasterId xmlns:r="http://schemas.openxmlformats.org/officeDocument/2006/relationships" r:id="Rbc98aa82a9154237"/>
  </p:notesMasterIdLst>
  <p:sldIdLst>
    <p:sldId xmlns:r="http://schemas.openxmlformats.org/officeDocument/2006/relationships" id="256" r:id="R8e28b60df3e5489e"/>
    <p:sldId xmlns:r="http://schemas.openxmlformats.org/officeDocument/2006/relationships" id="257" r:id="Rcdc90ca06bf54db3"/>
    <p:sldId xmlns:r="http://schemas.openxmlformats.org/officeDocument/2006/relationships" id="258" r:id="Rcce2c09751bb4404"/>
    <p:sldId xmlns:r="http://schemas.openxmlformats.org/officeDocument/2006/relationships" id="259" r:id="R762b0bb82b9c4fae"/>
    <p:sldId xmlns:r="http://schemas.openxmlformats.org/officeDocument/2006/relationships" id="260" r:id="Rfc1fd6e8b88a48b4"/>
    <p:sldId xmlns:r="http://schemas.openxmlformats.org/officeDocument/2006/relationships" id="261" r:id="Rae8e8fef912c4a3d"/>
    <p:sldId xmlns:r="http://schemas.openxmlformats.org/officeDocument/2006/relationships" id="262" r:id="Rc8a031469d704e13"/>
    <p:sldId xmlns:r="http://schemas.openxmlformats.org/officeDocument/2006/relationships" id="263" r:id="R85920fe3fbd74a79"/>
    <p:sldId xmlns:r="http://schemas.openxmlformats.org/officeDocument/2006/relationships" id="264" r:id="Rcae2f1c3e3064080"/>
    <p:sldId xmlns:r="http://schemas.openxmlformats.org/officeDocument/2006/relationships" id="265" r:id="Rd469714d7ada4ed6"/>
    <p:sldId xmlns:r="http://schemas.openxmlformats.org/officeDocument/2006/relationships" id="266" r:id="R309fe668c9304f1a"/>
    <p:sldId xmlns:r="http://schemas.openxmlformats.org/officeDocument/2006/relationships" id="267" r:id="R38b795f1b4db40f6"/>
    <p:sldId xmlns:r="http://schemas.openxmlformats.org/officeDocument/2006/relationships" id="268" r:id="R7028fcf2267a453f"/>
    <p:sldId xmlns:r="http://schemas.openxmlformats.org/officeDocument/2006/relationships" id="269" r:id="R6760a942321a4705"/>
    <p:sldId xmlns:r="http://schemas.openxmlformats.org/officeDocument/2006/relationships" id="270" r:id="Rb6b728f0db12459c"/>
    <p:sldId xmlns:r="http://schemas.openxmlformats.org/officeDocument/2006/relationships" id="271" r:id="R625a4e83a6634385"/>
    <p:sldId xmlns:r="http://schemas.openxmlformats.org/officeDocument/2006/relationships" id="272" r:id="Rba1917945bda4166"/>
    <p:sldId xmlns:r="http://schemas.openxmlformats.org/officeDocument/2006/relationships" id="273" r:id="R74ed75c7f6c84f63"/>
    <p:sldId xmlns:r="http://schemas.openxmlformats.org/officeDocument/2006/relationships" id="274" r:id="Rd70aca18a93845b4"/>
    <p:sldId xmlns:r="http://schemas.openxmlformats.org/officeDocument/2006/relationships" id="275" r:id="R9a47b6487dac443c"/>
    <p:sldId xmlns:r="http://schemas.openxmlformats.org/officeDocument/2006/relationships" id="276" r:id="R87eadf8e3dde40f2"/>
    <p:sldId xmlns:r="http://schemas.openxmlformats.org/officeDocument/2006/relationships" id="277" r:id="Rbccd724beed74f08"/>
    <p:sldId xmlns:r="http://schemas.openxmlformats.org/officeDocument/2006/relationships" id="278" r:id="R09396e86d99c407d"/>
    <p:sldId xmlns:r="http://schemas.openxmlformats.org/officeDocument/2006/relationships" id="279" r:id="R0296879d467241a6"/>
    <p:sldId xmlns:r="http://schemas.openxmlformats.org/officeDocument/2006/relationships" id="280" r:id="Red5bc2a62b184950"/>
    <p:sldId xmlns:r="http://schemas.openxmlformats.org/officeDocument/2006/relationships" id="281" r:id="R5d646345b7ee42c3"/>
    <p:sldId xmlns:r="http://schemas.openxmlformats.org/officeDocument/2006/relationships" id="282" r:id="R34ffe13364f94beb"/>
    <p:sldId xmlns:r="http://schemas.openxmlformats.org/officeDocument/2006/relationships" id="283" r:id="R78b2e025007b4933"/>
    <p:sldId xmlns:r="http://schemas.openxmlformats.org/officeDocument/2006/relationships" id="284" r:id="R4cd21c6f46fc4d92"/>
    <p:sldId xmlns:r="http://schemas.openxmlformats.org/officeDocument/2006/relationships" id="285" r:id="Rd654e824ccbd4859"/>
    <p:sldId xmlns:r="http://schemas.openxmlformats.org/officeDocument/2006/relationships" id="286" r:id="R3b04193547f54e4f"/>
    <p:sldId xmlns:r="http://schemas.openxmlformats.org/officeDocument/2006/relationships" id="287" r:id="R2cd6917ea6f54ea9"/>
    <p:sldId xmlns:r="http://schemas.openxmlformats.org/officeDocument/2006/relationships" id="288" r:id="Rcde6e38497ba4910"/>
    <p:sldId xmlns:r="http://schemas.openxmlformats.org/officeDocument/2006/relationships" id="289" r:id="Ra434a85b21524bf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57c718e55e84eee" /><Relationship Type="http://schemas.openxmlformats.org/officeDocument/2006/relationships/slideMaster" Target="/ppt/slideMasters/slideMaster1.xml" Id="Rc34474c7fe95457c" /><Relationship Type="http://schemas.openxmlformats.org/officeDocument/2006/relationships/notesMaster" Target="/ppt/notesMasters/notesMaster1.xml" Id="Rbc98aa82a9154237" /><Relationship Type="http://schemas.openxmlformats.org/officeDocument/2006/relationships/presProps" Target="/ppt/presProps.xml" Id="Re0ad561059aa465e" /><Relationship Type="http://schemas.openxmlformats.org/officeDocument/2006/relationships/viewProps" Target="/ppt/viewProps.xml" Id="R44746ff7c7814c63" /><Relationship Type="http://schemas.openxmlformats.org/officeDocument/2006/relationships/tableStyles" Target="/ppt/tableStyles.xml" Id="R66a8ef62974542e8" /><Relationship Type="http://schemas.openxmlformats.org/officeDocument/2006/relationships/slide" Target="/ppt/slides/slide1.xml" Id="R8e28b60df3e5489e" /><Relationship Type="http://schemas.openxmlformats.org/officeDocument/2006/relationships/slide" Target="/ppt/slides/slide2.xml" Id="Rcdc90ca06bf54db3" /><Relationship Type="http://schemas.openxmlformats.org/officeDocument/2006/relationships/slide" Target="/ppt/slides/slide3.xml" Id="Rcce2c09751bb4404" /><Relationship Type="http://schemas.openxmlformats.org/officeDocument/2006/relationships/slide" Target="/ppt/slides/slide4.xml" Id="R762b0bb82b9c4fae" /><Relationship Type="http://schemas.openxmlformats.org/officeDocument/2006/relationships/slide" Target="/ppt/slides/slide5.xml" Id="Rfc1fd6e8b88a48b4" /><Relationship Type="http://schemas.openxmlformats.org/officeDocument/2006/relationships/slide" Target="/ppt/slides/slide6.xml" Id="Rae8e8fef912c4a3d" /><Relationship Type="http://schemas.openxmlformats.org/officeDocument/2006/relationships/slide" Target="/ppt/slides/slide7.xml" Id="Rc8a031469d704e13" /><Relationship Type="http://schemas.openxmlformats.org/officeDocument/2006/relationships/slide" Target="/ppt/slides/slide8.xml" Id="R85920fe3fbd74a79" /><Relationship Type="http://schemas.openxmlformats.org/officeDocument/2006/relationships/slide" Target="/ppt/slides/slide9.xml" Id="Rcae2f1c3e3064080" /><Relationship Type="http://schemas.openxmlformats.org/officeDocument/2006/relationships/slide" Target="/ppt/slides/slide10.xml" Id="Rd469714d7ada4ed6" /><Relationship Type="http://schemas.openxmlformats.org/officeDocument/2006/relationships/slide" Target="/ppt/slides/slide11.xml" Id="R309fe668c9304f1a" /><Relationship Type="http://schemas.openxmlformats.org/officeDocument/2006/relationships/slide" Target="/ppt/slides/slide12.xml" Id="R38b795f1b4db40f6" /><Relationship Type="http://schemas.openxmlformats.org/officeDocument/2006/relationships/slide" Target="/ppt/slides/slide13.xml" Id="R7028fcf2267a453f" /><Relationship Type="http://schemas.openxmlformats.org/officeDocument/2006/relationships/slide" Target="/ppt/slides/slide14.xml" Id="R6760a942321a4705" /><Relationship Type="http://schemas.openxmlformats.org/officeDocument/2006/relationships/slide" Target="/ppt/slides/slide15.xml" Id="Rb6b728f0db12459c" /><Relationship Type="http://schemas.openxmlformats.org/officeDocument/2006/relationships/slide" Target="/ppt/slides/slide16.xml" Id="R625a4e83a6634385" /><Relationship Type="http://schemas.openxmlformats.org/officeDocument/2006/relationships/slide" Target="/ppt/slides/slide17.xml" Id="Rba1917945bda4166" /><Relationship Type="http://schemas.openxmlformats.org/officeDocument/2006/relationships/slide" Target="/ppt/slides/slide18.xml" Id="R74ed75c7f6c84f63" /><Relationship Type="http://schemas.openxmlformats.org/officeDocument/2006/relationships/slide" Target="/ppt/slides/slide19.xml" Id="Rd70aca18a93845b4" /><Relationship Type="http://schemas.openxmlformats.org/officeDocument/2006/relationships/slide" Target="/ppt/slides/slide20.xml" Id="R9a47b6487dac443c" /><Relationship Type="http://schemas.openxmlformats.org/officeDocument/2006/relationships/slide" Target="/ppt/slides/slide21.xml" Id="R87eadf8e3dde40f2" /><Relationship Type="http://schemas.openxmlformats.org/officeDocument/2006/relationships/slide" Target="/ppt/slides/slide22.xml" Id="Rbccd724beed74f08" /><Relationship Type="http://schemas.openxmlformats.org/officeDocument/2006/relationships/slide" Target="/ppt/slides/slide23.xml" Id="R09396e86d99c407d" /><Relationship Type="http://schemas.openxmlformats.org/officeDocument/2006/relationships/slide" Target="/ppt/slides/slide24.xml" Id="R0296879d467241a6" /><Relationship Type="http://schemas.openxmlformats.org/officeDocument/2006/relationships/slide" Target="/ppt/slides/slide25.xml" Id="Red5bc2a62b184950" /><Relationship Type="http://schemas.openxmlformats.org/officeDocument/2006/relationships/slide" Target="/ppt/slides/slide26.xml" Id="R5d646345b7ee42c3" /><Relationship Type="http://schemas.openxmlformats.org/officeDocument/2006/relationships/slide" Target="/ppt/slides/slide27.xml" Id="R34ffe13364f94beb" /><Relationship Type="http://schemas.openxmlformats.org/officeDocument/2006/relationships/slide" Target="/ppt/slides/slide28.xml" Id="R78b2e025007b4933" /><Relationship Type="http://schemas.openxmlformats.org/officeDocument/2006/relationships/slide" Target="/ppt/slides/slide29.xml" Id="R4cd21c6f46fc4d92" /><Relationship Type="http://schemas.openxmlformats.org/officeDocument/2006/relationships/slide" Target="/ppt/slides/slide30.xml" Id="Rd654e824ccbd4859" /><Relationship Type="http://schemas.openxmlformats.org/officeDocument/2006/relationships/slide" Target="/ppt/slides/slide31.xml" Id="R3b04193547f54e4f" /><Relationship Type="http://schemas.openxmlformats.org/officeDocument/2006/relationships/slide" Target="/ppt/slides/slide32.xml" Id="R2cd6917ea6f54ea9" /><Relationship Type="http://schemas.openxmlformats.org/officeDocument/2006/relationships/slide" Target="/ppt/slides/slide33.xml" Id="Rcde6e38497ba4910" /><Relationship Type="http://schemas.openxmlformats.org/officeDocument/2006/relationships/slide" Target="/ppt/slides/slide34.xml" Id="Ra434a85b21524b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94c830bbdf47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a3cd217cd64afd" /><Relationship Type="http://schemas.openxmlformats.org/officeDocument/2006/relationships/notesMaster" Target="/ppt/notesMasters/notesMaster1.xml" Id="Re546c37702fa46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a6760788204c0e" /><Relationship Type="http://schemas.openxmlformats.org/officeDocument/2006/relationships/notesMaster" Target="/ppt/notesMasters/notesMaster1.xml" Id="Rc2b002839f9b48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b1cd99513f44f5" /><Relationship Type="http://schemas.openxmlformats.org/officeDocument/2006/relationships/notesMaster" Target="/ppt/notesMasters/notesMaster1.xml" Id="R54b687ba8bbc41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da2a1a6aa9414b" /><Relationship Type="http://schemas.openxmlformats.org/officeDocument/2006/relationships/notesMaster" Target="/ppt/notesMasters/notesMaster1.xml" Id="Reab03324793143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ef114e44de4388" /><Relationship Type="http://schemas.openxmlformats.org/officeDocument/2006/relationships/notesMaster" Target="/ppt/notesMasters/notesMaster1.xml" Id="R0a9a04069fc44c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fa5ee150ce471a" /><Relationship Type="http://schemas.openxmlformats.org/officeDocument/2006/relationships/notesMaster" Target="/ppt/notesMasters/notesMaster1.xml" Id="R494655c35d9843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bb2a8f11324cdd" /><Relationship Type="http://schemas.openxmlformats.org/officeDocument/2006/relationships/notesMaster" Target="/ppt/notesMasters/notesMaster1.xml" Id="R38d101c5ba8344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f380eee1e14691" /><Relationship Type="http://schemas.openxmlformats.org/officeDocument/2006/relationships/notesMaster" Target="/ppt/notesMasters/notesMaster1.xml" Id="Rf317ac2ba07340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70b99770e0422f" /><Relationship Type="http://schemas.openxmlformats.org/officeDocument/2006/relationships/notesMaster" Target="/ppt/notesMasters/notesMaster1.xml" Id="R7ef6b7380f7943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b6e19d142b49b1" /><Relationship Type="http://schemas.openxmlformats.org/officeDocument/2006/relationships/notesMaster" Target="/ppt/notesMasters/notesMaster1.xml" Id="Rafa3cf7751744a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b2787358a64a19" /><Relationship Type="http://schemas.openxmlformats.org/officeDocument/2006/relationships/notesMaster" Target="/ppt/notesMasters/notesMaster1.xml" Id="R439a150b2e2445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542b03aa1a4645" /><Relationship Type="http://schemas.openxmlformats.org/officeDocument/2006/relationships/notesMaster" Target="/ppt/notesMasters/notesMaster1.xml" Id="R728a34391d2341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a27a7e877b498c" /><Relationship Type="http://schemas.openxmlformats.org/officeDocument/2006/relationships/notesMaster" Target="/ppt/notesMasters/notesMaster1.xml" Id="R0723f8a14f9e4c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1bc8bd8c02451b" /><Relationship Type="http://schemas.openxmlformats.org/officeDocument/2006/relationships/notesMaster" Target="/ppt/notesMasters/notesMaster1.xml" Id="R5a8d3afebdca49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77d9c93da245b1" /><Relationship Type="http://schemas.openxmlformats.org/officeDocument/2006/relationships/notesMaster" Target="/ppt/notesMasters/notesMaster1.xml" Id="R88f8a48c25d443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4378a57c014ea1" /><Relationship Type="http://schemas.openxmlformats.org/officeDocument/2006/relationships/notesMaster" Target="/ppt/notesMasters/notesMaster1.xml" Id="R4a852b0e8c354b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e9c5a518254d05" /><Relationship Type="http://schemas.openxmlformats.org/officeDocument/2006/relationships/notesMaster" Target="/ppt/notesMasters/notesMaster1.xml" Id="R2f3bab3b985d44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d79db9b2914bdb" /><Relationship Type="http://schemas.openxmlformats.org/officeDocument/2006/relationships/notesMaster" Target="/ppt/notesMasters/notesMaster1.xml" Id="Rbc193e97a9bb40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71766f469e74c8c" /><Relationship Type="http://schemas.openxmlformats.org/officeDocument/2006/relationships/notesMaster" Target="/ppt/notesMasters/notesMaster1.xml" Id="Raa31ab2f51394ff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f8988ab6e14225" /><Relationship Type="http://schemas.openxmlformats.org/officeDocument/2006/relationships/notesMaster" Target="/ppt/notesMasters/notesMaster1.xml" Id="Rae21057bd4f24d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38ace1efa9c4f2b" /><Relationship Type="http://schemas.openxmlformats.org/officeDocument/2006/relationships/notesMaster" Target="/ppt/notesMasters/notesMaster1.xml" Id="R251fadfeb2c44a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6fde6cafd6e4f5b" /><Relationship Type="http://schemas.openxmlformats.org/officeDocument/2006/relationships/notesMaster" Target="/ppt/notesMasters/notesMaster1.xml" Id="R566f332f359c405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9a161bf8331496f" /><Relationship Type="http://schemas.openxmlformats.org/officeDocument/2006/relationships/notesMaster" Target="/ppt/notesMasters/notesMaster1.xml" Id="R273948079ed14fb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4aa99e656ff4d4e" /><Relationship Type="http://schemas.openxmlformats.org/officeDocument/2006/relationships/notesMaster" Target="/ppt/notesMasters/notesMaster1.xml" Id="Rc7f97b515d6347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515998b88574311" /><Relationship Type="http://schemas.openxmlformats.org/officeDocument/2006/relationships/notesMaster" Target="/ppt/notesMasters/notesMaster1.xml" Id="Ra326f39c1bc04c5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dab150144ec40a5" /><Relationship Type="http://schemas.openxmlformats.org/officeDocument/2006/relationships/notesMaster" Target="/ppt/notesMasters/notesMaster1.xml" Id="Rc6dc3c682dec4ca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c1c5490a566466a" /><Relationship Type="http://schemas.openxmlformats.org/officeDocument/2006/relationships/notesMaster" Target="/ppt/notesMasters/notesMaster1.xml" Id="R4329aab65a0248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b06235b0d124ef3" /><Relationship Type="http://schemas.openxmlformats.org/officeDocument/2006/relationships/notesMaster" Target="/ppt/notesMasters/notesMaster1.xml" Id="Ra6bcedf2d7b9435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a4b3270e7694568" /><Relationship Type="http://schemas.openxmlformats.org/officeDocument/2006/relationships/notesMaster" Target="/ppt/notesMasters/notesMaster1.xml" Id="R46f5f9ace29743f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7bc5c68bb3e4633" /><Relationship Type="http://schemas.openxmlformats.org/officeDocument/2006/relationships/notesMaster" Target="/ppt/notesMasters/notesMaster1.xml" Id="R185154818cfa435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9f92db542a24089" /><Relationship Type="http://schemas.openxmlformats.org/officeDocument/2006/relationships/notesMaster" Target="/ppt/notesMasters/notesMaster1.xml" Id="R5efc413653364ff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a54f4d59964475e" /><Relationship Type="http://schemas.openxmlformats.org/officeDocument/2006/relationships/notesMaster" Target="/ppt/notesMasters/notesMaster1.xml" Id="Rec87bc78b82b4e1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7f7ce8bb6c440e0" /><Relationship Type="http://schemas.openxmlformats.org/officeDocument/2006/relationships/notesMaster" Target="/ppt/notesMasters/notesMaster1.xml" Id="R034e819563c64a3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6be713aeb2b4b7b" /><Relationship Type="http://schemas.openxmlformats.org/officeDocument/2006/relationships/notesMaster" Target="/ppt/notesMasters/notesMaster1.xml" Id="Re4725b5af79442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biological object before introducing the computational workflow. A protein linker is a peptide segment within one polypeptide chain that connects two domains. The diagram shows the linker as amino-acid residues between Domain A and Domain B. Linkers can change domain separation, relative mobility, and steric interference. The important conclusion is that a linker cannot be interpreted independently of the fusion partners and intended function.</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This slide moves from the biological definition to the research problem. Four inputs jointly determine linker behaviour: the two partner proteins, their attachment sites, the candidate linker, and the design objective. The complete fusion may sample many interdomain conformations. Structure prediction can test local plausibility and uncertainty, but experimental measurements remain necessary for expression, stability, activity, and solution ensembles. LinkerForge therefore asks a narrower computational question: can a model rank candidates for a specified pair and generalize to unseen protein families?</a:t>
            </a:r>
          </a:p>
          <a:p xmlns:a="http://schemas.openxmlformats.org/drawingml/2006/main">
            <a:r>
              <a:t/>
            </a:r>
            <a:endParaRPr/>
          </a:p>
          <a:p xmlns:a="http://schemas.openxmlformats.org/drawingml/2006/main">
            <a:r>
              <a:t>Sources and evidence:</a:t>
            </a:r>
          </a:p>
          <a:p xmlns:a="http://schemas.openxmlformats.org/drawingml/2006/main">
            <a:r>
              <a:t>- Chen X, Zaro JL, Shen WC. Fusion protein linkers: property, design and functionality. Adv Drug Deliv Rev. 2013;65(10):1357–1369. doi:10.1016/j.addr.2012.09.039.</a:t>
            </a:r>
          </a:p>
          <a:p xmlns:a="http://schemas.openxmlformats.org/drawingml/2006/main">
            <a:r>
              <a:t>- McBride AC et al. Predicting Pose Distribution of Protein Domains Connected by Flexible Linkers Is an Unsolved Problem. Proteins. 2026;94(1):362–380. doi:10.1002/prot.70062.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Use 'classification' precisely. DFLpred and TransDFL classify each residue as domain-linker or non-linker and provide residue-level propensity. LINKER generates candidate sequences from a PDB-derived loop library. SynLinker is a curated database and retrieval/design resource. Li and colleagues trained a supervised quantitative model on 370 randomized 18-residue linkers in one sfGFP–nanobody fusion and also evaluated high-versus-low activity classification. LinkerForge addresses another task: pair-specific candidate ranking with structural evidence. These methods are therefore complementary rather than interchangeable competitors.</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 https://academic.oup.com/peds/article/13/5/309/1564880</a:t>
            </a:r>
          </a:p>
          <a:p xmlns:a="http://schemas.openxmlformats.org/drawingml/2006/main">
            <a:r>
              <a:t>- Liu C et al. SynLinker: an integrated system for designing linkers and synthetic fusion proteins. Bioinformatics. 2015;31(22):3700–3702. PMID:26227144. https://pubmed.ncbi.nlm.nih.gov/26227144/</a:t>
            </a:r>
          </a:p>
          <a:p xmlns:a="http://schemas.openxmlformats.org/drawingml/2006/main">
            <a:r>
              <a:t>- Meng F, Kurgan L. DFLpred: High-throughput prediction of disordered flexible linker regions in protein sequences. Bioinformatics. 2016;32(12):i341–i350. https://academic.oup.com/bioinformatics/article/32/12/i341/2289031</a:t>
            </a:r>
          </a:p>
          <a:p xmlns:a="http://schemas.openxmlformats.org/drawingml/2006/main">
            <a:r>
              <a:t>- Sharma R et al. TransDFL: Identification of disordered flexible linkers in intrinsically disordered proteins using transfer learning. Comput Struct Biotechnol J. 2023;21:496–505. PMID:36272675. https://pubmed.ncbi.nlm.nih.gov/36272675/</a:t>
            </a:r>
          </a:p>
          <a:p xmlns:a="http://schemas.openxmlformats.org/drawingml/2006/main">
            <a:r>
              <a:t>- Li et al. Multimodal deep learning-assisted rapid linker engineering for synthetic multidomain protein. 2026. PMCID:PMC12995870. https://pmc.ncbi.nlm.nih.gov/articles/PMC12995870/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Explain the CASP16 quotation carefully. McBride and colleagues assessed 35 population-weighted conformational ensembles from 25 predictor groups for two Staphylococcal protein A domain-linker-domain constructs. One used the conserved six-residue linker KADNKF and the other used Gly6. The team back-calculated SAXS curves and NMR residual dipolar couplings from each submitted ensemble. SAXS reports global distance and shape information, while NMR RDCs provide residue-specific orientational information between domains. No ensemble matched both types of experimental evidence closely, and none reproduced the experimentally observed difference between the two linker sequences. The result concerns distributions of relative domain poses in solution. It does not show that every individual domain was incorrectly folded.</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 doi:10.1093/bioinformatics/btv447.</a:t>
            </a:r>
          </a:p>
          <a:p xmlns:a="http://schemas.openxmlformats.org/drawingml/2006/main">
            <a:r>
              <a:t>- Li et al. Multimodal deep learning-assisted rapid linker engineering for synthetic multidomain protein. Synthetic Biology. 2026. doi:10.1016/j.synbio.2026.02.003.</a:t>
            </a:r>
          </a:p>
          <a:p xmlns:a="http://schemas.openxmlformats.org/drawingml/2006/main">
            <a:r>
              <a:t>- McBride AC et al. Predicting Pose Distribution of Protein Domains Connected by Flexible Linkers Is an Unsolved Problem. Proteins. 2026;94(1):362–380. doi:10.1002/prot.70062. https://onlinelibrary.wiley.com/doi/10.1002/prot.70062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CASP16 introduced a blind challenge focused on continuous interdomain pose distributions. The assessors used two versions of a Staphylococcal protein A domain-linker-domain construct: the conserved KADNKF linker and Gly6. Twenty-five groups supplied 35 population-weighted ensembles. SAXS was available for both variants and reports overall shape and distance information. NMR residual dipolar couplings were available for the WT construct and report domain orientation through residue-specific measurements. The assessors back-calculated these observables from every submitted ensemble. No ensemble agreed closely with both evidence types, and no method reproduced the experimentally observed WT-versus-Gly6 SAXS difference. This separates local folding confidence from ensemble-level validation of linker-controlled motion.</a:t>
            </a:r>
          </a:p>
          <a:p xmlns:a="http://schemas.openxmlformats.org/drawingml/2006/main">
            <a:r>
              <a:t/>
            </a:r>
            <a:endParaRPr/>
          </a:p>
          <a:p xmlns:a="http://schemas.openxmlformats.org/drawingml/2006/main">
            <a:r>
              <a:t>Sources and evidence:</a:t>
            </a:r>
          </a:p>
          <a:p xmlns:a="http://schemas.openxmlformats.org/drawingml/2006/main">
            <a:r>
              <a:t>- McBride AC et al. Predicting Pose Distribution of Protein Domains Connected by Flexible Linkers Is an Unsolved Problem. Proteins. 2026;94(1):362–380. doi:10.1002/prot.70062.</a:t>
            </a:r>
          </a:p>
          <a:p xmlns:a="http://schemas.openxmlformats.org/drawingml/2006/main">
            <a:r>
              <a:t>- https://onlinelibrary.wiley.com/doi/10.1002/prot.70062</a:t>
            </a:r>
          </a:p>
          <a:p xmlns:a="http://schemas.openxmlformats.org/drawingml/2006/main">
            <a:r>
              <a:t>- CASP16 prediction and SAXS data: https://pinot3.genomecenter.ucdavis.edu/casp16/UPLOAD_fromPC/UPLOADS_ENSMBL/cleaned/</a:t>
            </a:r>
          </a:p>
          <a:p xmlns:a="http://schemas.openxmlformats.org/drawingml/2006/main">
            <a:r>
              <a:t>- NMR RDC data: BMRB accession 53002.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Frame the comparison around evidence rather than superiority. LINKER and SynLinker provide generation or retrieval evidence. DFLpred and TransDFL provide residue-classification benchmarks for another task. Li et al. reports measured fluorescence for 370 linker variants in one sfGFP–nanobody system, which gives strong system-specific experimental evidence. The CASP16 ensemble assessment shows that computational methods still struggle to reproduce flexible interdomain pose distributions measured jointly by NMR RDC and SAXS. LinkerForge currently provides a three-pair computational acceptance panel and provenance, without equivalent functional, NMR, or SAXS evidence.</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a:t>
            </a:r>
          </a:p>
          <a:p xmlns:a="http://schemas.openxmlformats.org/drawingml/2006/main">
            <a:r>
              <a:t>- McBride AC et al. Predicting Pose Distribution of Protein Domains Connected by Flexible Linkers Is an Unsolved Problem. Proteins. 2026;94(1):362–380. doi:10.1002/prot.70062.</a:t>
            </a:r>
          </a:p>
          <a:p xmlns:a="http://schemas.openxmlformats.org/drawingml/2006/main">
            <a:r>
              <a:t>- LinkerForge three-pair public acceptance comparison: the current panel verifies execution and traceability, not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2\runs\folds\public-multipair-af2ptm-20261021\verified_public_acceptance_run_research_presentation_final_2026-10-22.md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b726bc5e674b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ca43e8ac2847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1e9d431a6d45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751dff7ced4c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b83b13b74f45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66edaa834b42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04c3c9492e4a8f" /><Relationship Type="http://schemas.openxmlformats.org/officeDocument/2006/relationships/slideLayout" Target="/ppt/slideLayouts/slideLayout1.xml" Id="R037b174e47174b30" /><Relationship Type="http://schemas.openxmlformats.org/officeDocument/2006/relationships/slideLayout" Target="/ppt/slideLayouts/slideLayout2.xml" Id="R326530750fd8425d" /><Relationship Type="http://schemas.openxmlformats.org/officeDocument/2006/relationships/slideLayout" Target="/ppt/slideLayouts/slideLayout3.xml" Id="R7e0af97324b3467d" /><Relationship Type="http://schemas.openxmlformats.org/officeDocument/2006/relationships/slideLayout" Target="/ppt/slideLayouts/slideLayout4.xml" Id="Rd514a588b9644078" /><Relationship Type="http://schemas.openxmlformats.org/officeDocument/2006/relationships/slideLayout" Target="/ppt/slideLayouts/slideLayout5.xml" Id="R315460b3f75c4bd5" /><Relationship Type="http://schemas.openxmlformats.org/officeDocument/2006/relationships/slideLayout" Target="/ppt/slideLayouts/slideLayout6.xml" Id="Re58a7a4218d945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7b174e47174b30"/>
    <p:sldLayoutId xmlns:r="http://schemas.openxmlformats.org/officeDocument/2006/relationships" id="2147483650" r:id="R326530750fd8425d"/>
    <p:sldLayoutId xmlns:r="http://schemas.openxmlformats.org/officeDocument/2006/relationships" id="2147483651" r:id="R7e0af97324b3467d"/>
    <p:sldLayoutId xmlns:r="http://schemas.openxmlformats.org/officeDocument/2006/relationships" id="2147483652" r:id="Rd514a588b9644078"/>
    <p:sldLayoutId xmlns:r="http://schemas.openxmlformats.org/officeDocument/2006/relationships" id="2147483653" r:id="R315460b3f75c4bd5"/>
    <p:sldLayoutId xmlns:r="http://schemas.openxmlformats.org/officeDocument/2006/relationships" id="2147483654" r:id="Re58a7a4218d945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a38d579a0e481e" /><Relationship Type="http://schemas.openxmlformats.org/officeDocument/2006/relationships/image" Target="/ppt/media/image.png" Id="Rf7baa79f71074add" /><Relationship Type="http://schemas.openxmlformats.org/officeDocument/2006/relationships/notesSlide" Target="/ppt/notesSlides/notesSlide1.xml" Id="R3ae6d5f08e774b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0aaeed63384639" /><Relationship Type="http://schemas.openxmlformats.org/officeDocument/2006/relationships/notesSlide" Target="/ppt/notesSlides/notesSlide2.xml" Id="R8d34db39b6f742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890ed514a84b6d" /><Relationship Type="http://schemas.openxmlformats.org/officeDocument/2006/relationships/notesSlide" Target="/ppt/notesSlides/notesSlide3.xml" Id="R8c84cf24e37645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65623481d5d49c6" /><Relationship Type="http://schemas.openxmlformats.org/officeDocument/2006/relationships/notesSlide" Target="/ppt/notesSlides/notesSlide4.xml" Id="R5568c90a839f43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9680135aa94907" /><Relationship Type="http://schemas.openxmlformats.org/officeDocument/2006/relationships/notesSlide" Target="/ppt/notesSlides/notesSlide5.xml" Id="R3795836883aa4a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0e0d6128c44493" /><Relationship Type="http://schemas.openxmlformats.org/officeDocument/2006/relationships/notesSlide" Target="/ppt/notesSlides/notesSlide6.xml" Id="Rc569d64d520340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bb4be560b641d2" /><Relationship Type="http://schemas.openxmlformats.org/officeDocument/2006/relationships/notesSlide" Target="/ppt/notesSlides/notesSlide7.xml" Id="R4ae0f9dc6ca349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148b502cbc45e6" /><Relationship Type="http://schemas.openxmlformats.org/officeDocument/2006/relationships/notesSlide" Target="/ppt/notesSlides/notesSlide8.xml" Id="Rcb0958706d8740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8ffdc1efc043f6" /><Relationship Type="http://schemas.openxmlformats.org/officeDocument/2006/relationships/notesSlide" Target="/ppt/notesSlides/notesSlide9.xml" Id="R8fe6d05fe87440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679d0e2f4184e63" /><Relationship Type="http://schemas.openxmlformats.org/officeDocument/2006/relationships/notesSlide" Target="/ppt/notesSlides/notesSlide10.xml" Id="Rb8cff042579c4e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dc623550384c2e" /><Relationship Type="http://schemas.openxmlformats.org/officeDocument/2006/relationships/notesSlide" Target="/ppt/notesSlides/notesSlide11.xml" Id="Rdb4fd9dd63a740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a92601a29a44d0c" /><Relationship Type="http://schemas.openxmlformats.org/officeDocument/2006/relationships/notesSlide" Target="/ppt/notesSlides/notesSlide12.xml" Id="Rf6a166c879ae4d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98a3e991b3348ce" /><Relationship Type="http://schemas.openxmlformats.org/officeDocument/2006/relationships/notesSlide" Target="/ppt/notesSlides/notesSlide13.xml" Id="R4cd2cc65cc3243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f0b797ca754bb7" /><Relationship Type="http://schemas.openxmlformats.org/officeDocument/2006/relationships/notesSlide" Target="/ppt/notesSlides/notesSlide14.xml" Id="Re806264181cc47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aa9552b6c79424f" /><Relationship Type="http://schemas.openxmlformats.org/officeDocument/2006/relationships/notesSlide" Target="/ppt/notesSlides/notesSlide15.xml" Id="R21632a5c9a234c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aca006f89bd4d1b" /><Relationship Type="http://schemas.openxmlformats.org/officeDocument/2006/relationships/notesSlide" Target="/ppt/notesSlides/notesSlide16.xml" Id="R32705ac91d5048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448f233228e4a15" /><Relationship Type="http://schemas.openxmlformats.org/officeDocument/2006/relationships/notesSlide" Target="/ppt/notesSlides/notesSlide17.xml" Id="R64d1180af10f49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22ee96355db471c" /><Relationship Type="http://schemas.openxmlformats.org/officeDocument/2006/relationships/image" Target="/ppt/media/image.png" Id="Rb91220c0a1e74fa9" /><Relationship Type="http://schemas.openxmlformats.org/officeDocument/2006/relationships/chart" Target="/ppt/slides/charts/chart1.xml" Id="R304b850a80ec46df" /><Relationship Type="http://schemas.openxmlformats.org/officeDocument/2006/relationships/notesSlide" Target="/ppt/notesSlides/notesSlide18.xml" Id="R2f6cd74eb12544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3e4f221e2b545c9" /><Relationship Type="http://schemas.openxmlformats.org/officeDocument/2006/relationships/chart" Target="/ppt/slides/charts/chart2.xml" Id="R17729b97279e4470" /><Relationship Type="http://schemas.openxmlformats.org/officeDocument/2006/relationships/notesSlide" Target="/ppt/notesSlides/notesSlide19.xml" Id="R41c067c83b6d4dc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2717234a33242d0" /><Relationship Type="http://schemas.openxmlformats.org/officeDocument/2006/relationships/notesSlide" Target="/ppt/notesSlides/notesSlide20.xml" Id="R4b87810803544ca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7bcae39f26d41c5" /><Relationship Type="http://schemas.openxmlformats.org/officeDocument/2006/relationships/image" Target="/ppt/media/image2.png" Id="R8ecd68f396364fa6" /><Relationship Type="http://schemas.openxmlformats.org/officeDocument/2006/relationships/notesSlide" Target="/ppt/notesSlides/notesSlide21.xml" Id="Reb8727d700314ca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012c4360111452a" /><Relationship Type="http://schemas.openxmlformats.org/officeDocument/2006/relationships/notesSlide" Target="/ppt/notesSlides/notesSlide22.xml" Id="R121fe717d2344b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2b10d75644e4113" /><Relationship Type="http://schemas.openxmlformats.org/officeDocument/2006/relationships/notesSlide" Target="/ppt/notesSlides/notesSlide23.xml" Id="Raf55c9dce72b457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ccd8d41444945a1" /><Relationship Type="http://schemas.openxmlformats.org/officeDocument/2006/relationships/image" Target="/ppt/media/image3.png" Id="R7617c0ddcbb0445e" /><Relationship Type="http://schemas.openxmlformats.org/officeDocument/2006/relationships/notesSlide" Target="/ppt/notesSlides/notesSlide24.xml" Id="R5d69cd50e2594b1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2c4c171ac7f4539" /><Relationship Type="http://schemas.openxmlformats.org/officeDocument/2006/relationships/chart" Target="/ppt/slides/charts/chart3.xml" Id="R3438d76b2faa4972" /><Relationship Type="http://schemas.openxmlformats.org/officeDocument/2006/relationships/notesSlide" Target="/ppt/notesSlides/notesSlide25.xml" Id="R0c3cf9edb8ec409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b58e0afcd864a4e" /><Relationship Type="http://schemas.openxmlformats.org/officeDocument/2006/relationships/notesSlide" Target="/ppt/notesSlides/notesSlide26.xml" Id="R13330015f7a343f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34095d04bfc4734" /><Relationship Type="http://schemas.openxmlformats.org/officeDocument/2006/relationships/notesSlide" Target="/ppt/notesSlides/notesSlide27.xml" Id="R340018f7a7114e2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37720a639634208" /><Relationship Type="http://schemas.openxmlformats.org/officeDocument/2006/relationships/notesSlide" Target="/ppt/notesSlides/notesSlide28.xml" Id="R38717b0abf024f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ccb428dd0cf4364" /><Relationship Type="http://schemas.openxmlformats.org/officeDocument/2006/relationships/notesSlide" Target="/ppt/notesSlides/notesSlide29.xml" Id="R0895ba67e3e8437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a05230df38d4625" /><Relationship Type="http://schemas.openxmlformats.org/officeDocument/2006/relationships/notesSlide" Target="/ppt/notesSlides/notesSlide30.xml" Id="Rf98e601a6c1f4bf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857c7a767364fbe" /><Relationship Type="http://schemas.openxmlformats.org/officeDocument/2006/relationships/notesSlide" Target="/ppt/notesSlides/notesSlide31.xml" Id="R8775dfa22a9045f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a2f83d18829492e" /><Relationship Type="http://schemas.openxmlformats.org/officeDocument/2006/relationships/notesSlide" Target="/ppt/notesSlides/notesSlide32.xml" Id="Ra32e5e2586d542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041af51fe734965" /><Relationship Type="http://schemas.openxmlformats.org/officeDocument/2006/relationships/notesSlide" Target="/ppt/notesSlides/notesSlide33.xml" Id="R902e1e495a714c7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e5feb573d1947a0" /><Relationship Type="http://schemas.openxmlformats.org/officeDocument/2006/relationships/notesSlide" Target="/ppt/notesSlides/notesSlide34.xml" Id="Rec371c6a1d604a5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6F21DEB2-7E67-4A71-838E-8AADC2E435A3}"/>
              </a:ext>
            </a:extLst>
          </p:cNvPr>
          <p:cNvPicPr>
            <a:picLocks xmlns:a="http://schemas.openxmlformats.org/drawingml/2006/main" noChangeAspect="1"/>
          </p:cNvPicPr>
          <p:nvPr/>
        </p:nvPicPr>
        <p:blipFill>
          <a:blip xmlns:r="http://schemas.openxmlformats.org/officeDocument/2006/relationships" xmlns:a="http://schemas.openxmlformats.org/drawingml/2006/main" r:embed="Rf7baa79f71074add"/>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research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Srivastava · Hardik Tyagi</a:t>
            </a:r>
          </a:p>
          <a:p xmlns:a="http://schemas.openxmlformats.org/drawingml/2006/main">
            <a:pPr algn="l">
              <a:buNone/>
              <a:defRPr sz="1275" b="0" i="0">
                <a:solidFill>
                  <a:srgbClr val="C8D6D0"/>
                </a:solidFill>
                <a:latin typeface="Arial"/>
                <a:ea typeface="Arial"/>
                <a:cs typeface="Arial"/>
              </a:defRPr>
            </a:pPr>
            <a:r>
              <a:t>Ram · Kritharith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86701EC-F624-4F7C-BBEF-188CE2F97E4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7237E3-0692-4049-AC2A-7EBC85B1843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1D2EE9E-7005-4472-ADF9-FB6315D5175C}"/>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C2BCE5CD-1B57-4037-BA0C-1FCEC8CD7A5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83580C31-7720-4ECC-B892-C2EEAD11AD2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B743164D-BE6C-4DB5-9871-3190A97122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linkers connect domains within one polypeptide</a:t>
            </a:r>
          </a:p>
        </p:txBody>
      </p:sp>
      <p:sp>
        <p:nvSpPr>
          <p:cNvPr id="7" name="">
            <a:extLst xmlns:a="http://schemas.openxmlformats.org/drawingml/2006/main">
              <a:ext uri="{FF2B5EF4-FFF2-40B4-BE49-F238E27FC236}">
                <a16:creationId xmlns:a16="http://schemas.microsoft.com/office/drawing/2014/main" id="{67C61D57-6FD3-4F01-9C4F-CC2B4B3F53F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Length and amino-acid composition influence domain separation, relative motion, and unwanted interactions</a:t>
            </a:r>
          </a:p>
        </p:txBody>
      </p:sp>
      <p:sp>
        <p:nvSpPr>
          <p:cNvPr id="8" name="">
            <a:extLst xmlns:a="http://schemas.openxmlformats.org/drawingml/2006/main">
              <a:ext uri="{FF2B5EF4-FFF2-40B4-BE49-F238E27FC236}">
                <a16:creationId xmlns:a16="http://schemas.microsoft.com/office/drawing/2014/main" id="{C6CB2D6C-1353-4231-ABEA-EF31400396F6}"/>
              </a:ext>
            </a:extLst>
          </p:cNvPr>
          <p:cNvSpPr>
            <a:spLocks xmlns:a="http://schemas.openxmlformats.org/drawingml/2006/main" noGrp="1"/>
          </p:cNvSpPr>
          <p:nvPr/>
        </p:nvSpPr>
        <p:spPr>
          <a:xfrm xmlns:a="http://schemas.openxmlformats.org/drawingml/2006/main">
            <a:off x="819150" y="1905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ctr">
              <a:defRPr sz="975" b="1" i="0">
                <a:solidFill>
                  <a:srgbClr val="4E9BEC"/>
                </a:solidFill>
                <a:latin typeface="Arial"/>
                <a:ea typeface="Arial"/>
                <a:cs typeface="Arial"/>
              </a:defRPr>
            </a:defPPr>
            <a:lvl1pPr algn="ctr">
              <a:defRPr sz="975" b="1" i="0">
                <a:solidFill>
                  <a:srgbClr val="4E9BEC"/>
                </a:solidFill>
                <a:latin typeface="Arial"/>
                <a:ea typeface="Arial"/>
                <a:cs typeface="Arial"/>
              </a:defRPr>
            </a:lvl1pPr>
            <a:lvl2pPr algn="ctr">
              <a:defRPr sz="975" b="1" i="0">
                <a:solidFill>
                  <a:srgbClr val="4E9BEC"/>
                </a:solidFill>
                <a:latin typeface="Arial"/>
                <a:ea typeface="Arial"/>
                <a:cs typeface="Arial"/>
              </a:defRPr>
            </a:lvl2pPr>
            <a:lvl3pPr algn="ctr">
              <a:defRPr sz="975" b="1" i="0">
                <a:solidFill>
                  <a:srgbClr val="4E9BEC"/>
                </a:solidFill>
                <a:latin typeface="Arial"/>
                <a:ea typeface="Arial"/>
                <a:cs typeface="Arial"/>
              </a:defRPr>
            </a:lvl3pPr>
            <a:lvl4pPr algn="ctr">
              <a:defRPr sz="975" b="1" i="0">
                <a:solidFill>
                  <a:srgbClr val="4E9BEC"/>
                </a:solidFill>
                <a:latin typeface="Arial"/>
                <a:ea typeface="Arial"/>
                <a:cs typeface="Arial"/>
              </a:defRPr>
            </a:lvl4pPr>
            <a:lvl5pPr algn="ctr">
              <a:defRPr sz="975" b="1" i="0">
                <a:solidFill>
                  <a:srgbClr val="4E9BEC"/>
                </a:solidFill>
                <a:latin typeface="Arial"/>
                <a:ea typeface="Arial"/>
                <a:cs typeface="Arial"/>
              </a:defRPr>
            </a:lvl5pPr>
            <a:lvl6pPr algn="ctr">
              <a:defRPr sz="975" b="1" i="0">
                <a:solidFill>
                  <a:srgbClr val="4E9BEC"/>
                </a:solidFill>
                <a:latin typeface="Arial"/>
                <a:ea typeface="Arial"/>
                <a:cs typeface="Arial"/>
              </a:defRPr>
            </a:lvl6pPr>
            <a:lvl7pPr algn="ctr">
              <a:defRPr sz="975" b="1" i="0">
                <a:solidFill>
                  <a:srgbClr val="4E9BEC"/>
                </a:solidFill>
                <a:latin typeface="Arial"/>
                <a:ea typeface="Arial"/>
                <a:cs typeface="Arial"/>
              </a:defRPr>
            </a:lvl7pPr>
            <a:lvl8pPr algn="ctr">
              <a:defRPr sz="975" b="1" i="0">
                <a:solidFill>
                  <a:srgbClr val="4E9BEC"/>
                </a:solidFill>
                <a:latin typeface="Arial"/>
                <a:ea typeface="Arial"/>
                <a:cs typeface="Arial"/>
              </a:defRPr>
            </a:lvl8pPr>
            <a:lvl9pPr algn="ctr">
              <a:defRPr sz="975" b="1" i="0">
                <a:solidFill>
                  <a:srgbClr val="4E9BEC"/>
                </a:solidFill>
                <a:latin typeface="Arial"/>
                <a:ea typeface="Arial"/>
                <a:cs typeface="Arial"/>
              </a:defRPr>
            </a:lvl9pPr>
          </a:lstStyle>
          <a:p xmlns:a="http://schemas.openxmlformats.org/drawingml/2006/main">
            <a:pPr algn="ctr">
              <a:defRPr sz="975" b="1" i="0">
                <a:solidFill>
                  <a:srgbClr val="4E9BEC"/>
                </a:solidFill>
                <a:latin typeface="Arial"/>
                <a:ea typeface="Arial"/>
                <a:cs typeface="Arial"/>
              </a:defRPr>
            </a:pPr>
            <a:r>
              <a:rPr sz="975" b="1" i="0">
                <a:solidFill>
                  <a:srgbClr val="4E9BEC"/>
                </a:solidFill>
                <a:latin typeface="Arial"/>
                <a:ea typeface="Arial"/>
                <a:cs typeface="Arial"/>
              </a:rPr>
              <a:t>DOMAIN A</a:t>
            </a:r>
          </a:p>
        </p:txBody>
      </p:sp>
      <p:sp>
        <p:nvSpPr>
          <p:cNvPr id="9" name="">
            <a:extLst xmlns:a="http://schemas.openxmlformats.org/drawingml/2006/main">
              <a:ext uri="{FF2B5EF4-FFF2-40B4-BE49-F238E27FC236}">
                <a16:creationId xmlns:a16="http://schemas.microsoft.com/office/drawing/2014/main" id="{2FD24B7C-9EE3-4482-9E52-8F5A3D9D6E33}"/>
              </a:ext>
            </a:extLst>
          </p:cNvPr>
          <p:cNvSpPr>
            <a:spLocks xmlns:a="http://schemas.openxmlformats.org/drawingml/2006/main" noGrp="1"/>
          </p:cNvSpPr>
          <p:nvPr/>
        </p:nvSpPr>
        <p:spPr>
          <a:xfrm xmlns:a="http://schemas.openxmlformats.org/drawingml/2006/main">
            <a:off x="819150" y="2247900"/>
            <a:ext cx="2381250" cy="1066800"/>
          </a:xfrm>
          <a:prstGeom xmlns:a="http://schemas.openxmlformats.org/drawingml/2006/main" prst="roundRect">
            <a:avLst>
              <a:gd name="adj" fmla="val 7143"/>
            </a:avLst>
          </a:prstGeom>
          <a:solidFill xmlns:a="http://schemas.openxmlformats.org/drawingml/2006/main">
            <a:srgbClr val="173A4A"/>
          </a:solidFill>
          <a:ln xmlns:a="http://schemas.openxmlformats.org/drawingml/2006/main" w="19050">
            <a:solidFill>
              <a:srgbClr val="4E9BEC"/>
            </a:solidFill>
            <a:prstDash val="solid"/>
          </a:ln>
        </p:spPr>
      </p:sp>
      <p:sp>
        <p:nvSpPr>
          <p:cNvPr id="10" name="">
            <a:extLst xmlns:a="http://schemas.openxmlformats.org/drawingml/2006/main">
              <a:ext uri="{FF2B5EF4-FFF2-40B4-BE49-F238E27FC236}">
                <a16:creationId xmlns:a16="http://schemas.microsoft.com/office/drawing/2014/main" id="{F481C5B2-9F53-4338-AF90-50CAC7A07A4B}"/>
              </a:ext>
            </a:extLst>
          </p:cNvPr>
          <p:cNvSpPr>
            <a:spLocks xmlns:a="http://schemas.openxmlformats.org/drawingml/2006/main" noGrp="1"/>
          </p:cNvSpPr>
          <p:nvPr/>
        </p:nvSpPr>
        <p:spPr>
          <a:xfrm xmlns:a="http://schemas.openxmlformats.org/drawingml/2006/main">
            <a:off x="819150" y="2590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defPPr algn="ctr">
              <a:defRPr sz="1725" b="1" i="0">
                <a:solidFill>
                  <a:srgbClr val="F4F7F5"/>
                </a:solidFill>
                <a:latin typeface="Arial"/>
                <a:ea typeface="Arial"/>
                <a:cs typeface="Arial"/>
              </a:defRPr>
            </a:defPPr>
            <a:lvl1pPr algn="ctr">
              <a:defRPr sz="1725" b="1" i="0">
                <a:solidFill>
                  <a:srgbClr val="F4F7F5"/>
                </a:solidFill>
                <a:latin typeface="Arial"/>
                <a:ea typeface="Arial"/>
                <a:cs typeface="Arial"/>
              </a:defRPr>
            </a:lvl1pPr>
            <a:lvl2pPr algn="ctr">
              <a:defRPr sz="1725" b="1" i="0">
                <a:solidFill>
                  <a:srgbClr val="F4F7F5"/>
                </a:solidFill>
                <a:latin typeface="Arial"/>
                <a:ea typeface="Arial"/>
                <a:cs typeface="Arial"/>
              </a:defRPr>
            </a:lvl2pPr>
            <a:lvl3pPr algn="ctr">
              <a:defRPr sz="1725" b="1" i="0">
                <a:solidFill>
                  <a:srgbClr val="F4F7F5"/>
                </a:solidFill>
                <a:latin typeface="Arial"/>
                <a:ea typeface="Arial"/>
                <a:cs typeface="Arial"/>
              </a:defRPr>
            </a:lvl3pPr>
            <a:lvl4pPr algn="ctr">
              <a:defRPr sz="1725" b="1" i="0">
                <a:solidFill>
                  <a:srgbClr val="F4F7F5"/>
                </a:solidFill>
                <a:latin typeface="Arial"/>
                <a:ea typeface="Arial"/>
                <a:cs typeface="Arial"/>
              </a:defRPr>
            </a:lvl4pPr>
            <a:lvl5pPr algn="ctr">
              <a:defRPr sz="1725" b="1" i="0">
                <a:solidFill>
                  <a:srgbClr val="F4F7F5"/>
                </a:solidFill>
                <a:latin typeface="Arial"/>
                <a:ea typeface="Arial"/>
                <a:cs typeface="Arial"/>
              </a:defRPr>
            </a:lvl5pPr>
            <a:lvl6pPr algn="ctr">
              <a:defRPr sz="1725" b="1" i="0">
                <a:solidFill>
                  <a:srgbClr val="F4F7F5"/>
                </a:solidFill>
                <a:latin typeface="Arial"/>
                <a:ea typeface="Arial"/>
                <a:cs typeface="Arial"/>
              </a:defRPr>
            </a:lvl6pPr>
            <a:lvl7pPr algn="ctr">
              <a:defRPr sz="1725" b="1" i="0">
                <a:solidFill>
                  <a:srgbClr val="F4F7F5"/>
                </a:solidFill>
                <a:latin typeface="Arial"/>
                <a:ea typeface="Arial"/>
                <a:cs typeface="Arial"/>
              </a:defRPr>
            </a:lvl7pPr>
            <a:lvl8pPr algn="ctr">
              <a:defRPr sz="1725" b="1" i="0">
                <a:solidFill>
                  <a:srgbClr val="F4F7F5"/>
                </a:solidFill>
                <a:latin typeface="Arial"/>
                <a:ea typeface="Arial"/>
                <a:cs typeface="Arial"/>
              </a:defRPr>
            </a:lvl8pPr>
            <a:lvl9pPr algn="ctr">
              <a:defRPr sz="1725" b="1" i="0">
                <a:solidFill>
                  <a:srgbClr val="F4F7F5"/>
                </a:solidFill>
                <a:latin typeface="Arial"/>
                <a:ea typeface="Arial"/>
                <a:cs typeface="Arial"/>
              </a:defRPr>
            </a:lvl9pPr>
          </a:lstStyle>
          <a:p xmlns:a="http://schemas.openxmlformats.org/drawingml/2006/main">
            <a:pPr algn="ctr">
              <a:defRPr sz="1725" b="1" i="0">
                <a:solidFill>
                  <a:srgbClr val="F4F7F5"/>
                </a:solidFill>
                <a:latin typeface="Arial"/>
                <a:ea typeface="Arial"/>
                <a:cs typeface="Arial"/>
              </a:defRPr>
            </a:pPr>
            <a:r>
              <a:rPr sz="1725" b="1" i="0">
                <a:solidFill>
                  <a:srgbClr val="F4F7F5"/>
                </a:solidFill>
                <a:latin typeface="Arial"/>
                <a:ea typeface="Arial"/>
                <a:cs typeface="Arial"/>
              </a:rPr>
              <a:t>Protein domain A</a:t>
            </a:r>
          </a:p>
        </p:txBody>
      </p:sp>
      <p:sp>
        <p:nvSpPr>
          <p:cNvPr id="11" name="">
            <a:extLst xmlns:a="http://schemas.openxmlformats.org/drawingml/2006/main">
              <a:ext uri="{FF2B5EF4-FFF2-40B4-BE49-F238E27FC236}">
                <a16:creationId xmlns:a16="http://schemas.microsoft.com/office/drawing/2014/main" id="{22D2F651-8EB6-4872-9368-2605C35A91ED}"/>
              </a:ext>
            </a:extLst>
          </p:cNvPr>
          <p:cNvSpPr>
            <a:spLocks xmlns:a="http://schemas.openxmlformats.org/drawingml/2006/main" noGrp="1"/>
          </p:cNvSpPr>
          <p:nvPr/>
        </p:nvSpPr>
        <p:spPr>
          <a:xfrm xmlns:a="http://schemas.openxmlformats.org/drawingml/2006/main">
            <a:off x="4076700" y="1905000"/>
            <a:ext cx="403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ctr">
              <a:defRPr sz="975" b="1" i="0">
                <a:solidFill>
                  <a:srgbClr val="E84AAB"/>
                </a:solidFill>
                <a:latin typeface="Arial"/>
                <a:ea typeface="Arial"/>
                <a:cs typeface="Arial"/>
              </a:defRPr>
            </a:defPPr>
            <a:lvl1pPr algn="ctr">
              <a:defRPr sz="975" b="1" i="0">
                <a:solidFill>
                  <a:srgbClr val="E84AAB"/>
                </a:solidFill>
                <a:latin typeface="Arial"/>
                <a:ea typeface="Arial"/>
                <a:cs typeface="Arial"/>
              </a:defRPr>
            </a:lvl1pPr>
            <a:lvl2pPr algn="ctr">
              <a:defRPr sz="975" b="1" i="0">
                <a:solidFill>
                  <a:srgbClr val="E84AAB"/>
                </a:solidFill>
                <a:latin typeface="Arial"/>
                <a:ea typeface="Arial"/>
                <a:cs typeface="Arial"/>
              </a:defRPr>
            </a:lvl2pPr>
            <a:lvl3pPr algn="ctr">
              <a:defRPr sz="975" b="1" i="0">
                <a:solidFill>
                  <a:srgbClr val="E84AAB"/>
                </a:solidFill>
                <a:latin typeface="Arial"/>
                <a:ea typeface="Arial"/>
                <a:cs typeface="Arial"/>
              </a:defRPr>
            </a:lvl3pPr>
            <a:lvl4pPr algn="ctr">
              <a:defRPr sz="975" b="1" i="0">
                <a:solidFill>
                  <a:srgbClr val="E84AAB"/>
                </a:solidFill>
                <a:latin typeface="Arial"/>
                <a:ea typeface="Arial"/>
                <a:cs typeface="Arial"/>
              </a:defRPr>
            </a:lvl4pPr>
            <a:lvl5pPr algn="ctr">
              <a:defRPr sz="975" b="1" i="0">
                <a:solidFill>
                  <a:srgbClr val="E84AAB"/>
                </a:solidFill>
                <a:latin typeface="Arial"/>
                <a:ea typeface="Arial"/>
                <a:cs typeface="Arial"/>
              </a:defRPr>
            </a:lvl5pPr>
            <a:lvl6pPr algn="ctr">
              <a:defRPr sz="975" b="1" i="0">
                <a:solidFill>
                  <a:srgbClr val="E84AAB"/>
                </a:solidFill>
                <a:latin typeface="Arial"/>
                <a:ea typeface="Arial"/>
                <a:cs typeface="Arial"/>
              </a:defRPr>
            </a:lvl6pPr>
            <a:lvl7pPr algn="ctr">
              <a:defRPr sz="975" b="1" i="0">
                <a:solidFill>
                  <a:srgbClr val="E84AAB"/>
                </a:solidFill>
                <a:latin typeface="Arial"/>
                <a:ea typeface="Arial"/>
                <a:cs typeface="Arial"/>
              </a:defRPr>
            </a:lvl7pPr>
            <a:lvl8pPr algn="ctr">
              <a:defRPr sz="975" b="1" i="0">
                <a:solidFill>
                  <a:srgbClr val="E84AAB"/>
                </a:solidFill>
                <a:latin typeface="Arial"/>
                <a:ea typeface="Arial"/>
                <a:cs typeface="Arial"/>
              </a:defRPr>
            </a:lvl8pPr>
            <a:lvl9pPr algn="ctr">
              <a:defRPr sz="975" b="1" i="0">
                <a:solidFill>
                  <a:srgbClr val="E84AAB"/>
                </a:solidFill>
                <a:latin typeface="Arial"/>
                <a:ea typeface="Arial"/>
                <a:cs typeface="Arial"/>
              </a:defRPr>
            </a:lvl9pPr>
          </a:lstStyle>
          <a:p xmlns:a="http://schemas.openxmlformats.org/drawingml/2006/main">
            <a:pPr algn="ctr">
              <a:defRPr sz="975" b="1" i="0">
                <a:solidFill>
                  <a:srgbClr val="E84AAB"/>
                </a:solidFill>
                <a:latin typeface="Arial"/>
                <a:ea typeface="Arial"/>
                <a:cs typeface="Arial"/>
              </a:defRPr>
            </a:pPr>
            <a:r>
              <a:rPr sz="975" b="1" i="0">
                <a:solidFill>
                  <a:srgbClr val="E84AAB"/>
                </a:solidFill>
                <a:latin typeface="Arial"/>
                <a:ea typeface="Arial"/>
                <a:cs typeface="Arial"/>
              </a:rPr>
              <a:t>SHORT PEPTIDE SEQUENCE</a:t>
            </a:r>
          </a:p>
        </p:txBody>
      </p:sp>
      <p:sp>
        <p:nvSpPr>
          <p:cNvPr id="12" name="">
            <a:extLst xmlns:a="http://schemas.openxmlformats.org/drawingml/2006/main">
              <a:ext uri="{FF2B5EF4-FFF2-40B4-BE49-F238E27FC236}">
                <a16:creationId xmlns:a16="http://schemas.microsoft.com/office/drawing/2014/main" id="{C4032B39-832A-4BDA-814B-3E3300323117}"/>
              </a:ext>
            </a:extLst>
          </p:cNvPr>
          <p:cNvSpPr>
            <a:spLocks xmlns:a="http://schemas.openxmlformats.org/drawingml/2006/main" noGrp="1"/>
          </p:cNvSpPr>
          <p:nvPr/>
        </p:nvSpPr>
        <p:spPr>
          <a:xfrm xmlns:a="http://schemas.openxmlformats.org/drawingml/2006/main">
            <a:off x="3200400" y="27813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3" name="">
            <a:extLst xmlns:a="http://schemas.openxmlformats.org/drawingml/2006/main">
              <a:ext uri="{FF2B5EF4-FFF2-40B4-BE49-F238E27FC236}">
                <a16:creationId xmlns:a16="http://schemas.microsoft.com/office/drawing/2014/main" id="{22D1D32C-D788-43A2-9A03-38411BA8EB29}"/>
              </a:ext>
            </a:extLst>
          </p:cNvPr>
          <p:cNvSpPr>
            <a:spLocks xmlns:a="http://schemas.openxmlformats.org/drawingml/2006/main" noGrp="1"/>
          </p:cNvSpPr>
          <p:nvPr/>
        </p:nvSpPr>
        <p:spPr>
          <a:xfrm xmlns:a="http://schemas.openxmlformats.org/drawingml/2006/main">
            <a:off x="4324350" y="2533650"/>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C4635C-E966-4224-BE6C-D1BAC7078D94}"/>
              </a:ext>
            </a:extLst>
          </p:cNvPr>
          <p:cNvSpPr>
            <a:spLocks xmlns:a="http://schemas.openxmlformats.org/drawingml/2006/main" noGrp="1"/>
          </p:cNvSpPr>
          <p:nvPr/>
        </p:nvSpPr>
        <p:spPr>
          <a:xfrm xmlns:a="http://schemas.openxmlformats.org/drawingml/2006/main">
            <a:off x="4791075" y="2533650"/>
            <a:ext cx="361950" cy="361950"/>
          </a:xfrm>
          <a:prstGeom xmlns:a="http://schemas.openxmlformats.org/drawingml/2006/main" prst="ellipse">
            <a:avLst/>
          </a:prstGeom>
          <a:solidFill xmlns:a="http://schemas.openxmlformats.org/drawingml/2006/main">
            <a:srgbClr val="7A245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27A9465-BAE9-416D-AF0C-4EBAB25C69A6}"/>
              </a:ext>
            </a:extLst>
          </p:cNvPr>
          <p:cNvSpPr>
            <a:spLocks xmlns:a="http://schemas.openxmlformats.org/drawingml/2006/main" noGrp="1"/>
          </p:cNvSpPr>
          <p:nvPr/>
        </p:nvSpPr>
        <p:spPr>
          <a:xfrm xmlns:a="http://schemas.openxmlformats.org/drawingml/2006/main">
            <a:off x="5257800" y="2533650"/>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10AC425-F97C-4B4B-BF3F-CCB6841C0BBB}"/>
              </a:ext>
            </a:extLst>
          </p:cNvPr>
          <p:cNvSpPr>
            <a:spLocks xmlns:a="http://schemas.openxmlformats.org/drawingml/2006/main" noGrp="1"/>
          </p:cNvSpPr>
          <p:nvPr/>
        </p:nvSpPr>
        <p:spPr>
          <a:xfrm xmlns:a="http://schemas.openxmlformats.org/drawingml/2006/main">
            <a:off x="5724525" y="2533650"/>
            <a:ext cx="361950" cy="361950"/>
          </a:xfrm>
          <a:prstGeom xmlns:a="http://schemas.openxmlformats.org/drawingml/2006/main" prst="ellipse">
            <a:avLst/>
          </a:prstGeom>
          <a:solidFill xmlns:a="http://schemas.openxmlformats.org/drawingml/2006/main">
            <a:srgbClr val="7A24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01D10C7-366E-4A76-BFEC-7B7FEDEEF721}"/>
              </a:ext>
            </a:extLst>
          </p:cNvPr>
          <p:cNvSpPr>
            <a:spLocks xmlns:a="http://schemas.openxmlformats.org/drawingml/2006/main" noGrp="1"/>
          </p:cNvSpPr>
          <p:nvPr/>
        </p:nvSpPr>
        <p:spPr>
          <a:xfrm xmlns:a="http://schemas.openxmlformats.org/drawingml/2006/main">
            <a:off x="6191250" y="2533650"/>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2878C15-824E-4429-B7FE-F46138E6CDF4}"/>
              </a:ext>
            </a:extLst>
          </p:cNvPr>
          <p:cNvSpPr>
            <a:spLocks xmlns:a="http://schemas.openxmlformats.org/drawingml/2006/main" noGrp="1"/>
          </p:cNvSpPr>
          <p:nvPr/>
        </p:nvSpPr>
        <p:spPr>
          <a:xfrm xmlns:a="http://schemas.openxmlformats.org/drawingml/2006/main">
            <a:off x="6657975" y="2533650"/>
            <a:ext cx="361950" cy="361950"/>
          </a:xfrm>
          <a:prstGeom xmlns:a="http://schemas.openxmlformats.org/drawingml/2006/main" prst="ellipse">
            <a:avLst/>
          </a:prstGeom>
          <a:solidFill xmlns:a="http://schemas.openxmlformats.org/drawingml/2006/main">
            <a:srgbClr val="7A245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3383680-098E-41CC-A41B-D95777160299}"/>
              </a:ext>
            </a:extLst>
          </p:cNvPr>
          <p:cNvSpPr>
            <a:spLocks xmlns:a="http://schemas.openxmlformats.org/drawingml/2006/main" noGrp="1"/>
          </p:cNvSpPr>
          <p:nvPr/>
        </p:nvSpPr>
        <p:spPr>
          <a:xfrm xmlns:a="http://schemas.openxmlformats.org/drawingml/2006/main">
            <a:off x="7124700" y="2533650"/>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F5A12CB-7348-40E8-A715-CC2CE23EB46D}"/>
              </a:ext>
            </a:extLst>
          </p:cNvPr>
          <p:cNvSpPr>
            <a:spLocks xmlns:a="http://schemas.openxmlformats.org/drawingml/2006/main" noGrp="1"/>
          </p:cNvSpPr>
          <p:nvPr/>
        </p:nvSpPr>
        <p:spPr>
          <a:xfrm xmlns:a="http://schemas.openxmlformats.org/drawingml/2006/main">
            <a:off x="4095750" y="30384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ctr">
              <a:defRPr sz="1125" b="0" i="0">
                <a:solidFill>
                  <a:srgbClr val="AFC0B8"/>
                </a:solidFill>
                <a:latin typeface="Arial"/>
                <a:ea typeface="Arial"/>
                <a:cs typeface="Arial"/>
              </a:defRPr>
            </a:defPPr>
            <a:lvl1pPr algn="ctr">
              <a:defRPr sz="1125" b="0" i="0">
                <a:solidFill>
                  <a:srgbClr val="AFC0B8"/>
                </a:solidFill>
                <a:latin typeface="Arial"/>
                <a:ea typeface="Arial"/>
                <a:cs typeface="Arial"/>
              </a:defRPr>
            </a:lvl1pPr>
            <a:lvl2pPr algn="ctr">
              <a:defRPr sz="1125" b="0" i="0">
                <a:solidFill>
                  <a:srgbClr val="AFC0B8"/>
                </a:solidFill>
                <a:latin typeface="Arial"/>
                <a:ea typeface="Arial"/>
                <a:cs typeface="Arial"/>
              </a:defRPr>
            </a:lvl2pPr>
            <a:lvl3pPr algn="ctr">
              <a:defRPr sz="1125" b="0" i="0">
                <a:solidFill>
                  <a:srgbClr val="AFC0B8"/>
                </a:solidFill>
                <a:latin typeface="Arial"/>
                <a:ea typeface="Arial"/>
                <a:cs typeface="Arial"/>
              </a:defRPr>
            </a:lvl3pPr>
            <a:lvl4pPr algn="ctr">
              <a:defRPr sz="1125" b="0" i="0">
                <a:solidFill>
                  <a:srgbClr val="AFC0B8"/>
                </a:solidFill>
                <a:latin typeface="Arial"/>
                <a:ea typeface="Arial"/>
                <a:cs typeface="Arial"/>
              </a:defRPr>
            </a:lvl4pPr>
            <a:lvl5pPr algn="ctr">
              <a:defRPr sz="1125" b="0" i="0">
                <a:solidFill>
                  <a:srgbClr val="AFC0B8"/>
                </a:solidFill>
                <a:latin typeface="Arial"/>
                <a:ea typeface="Arial"/>
                <a:cs typeface="Arial"/>
              </a:defRPr>
            </a:lvl5pPr>
            <a:lvl6pPr algn="ctr">
              <a:defRPr sz="1125" b="0" i="0">
                <a:solidFill>
                  <a:srgbClr val="AFC0B8"/>
                </a:solidFill>
                <a:latin typeface="Arial"/>
                <a:ea typeface="Arial"/>
                <a:cs typeface="Arial"/>
              </a:defRPr>
            </a:lvl6pPr>
            <a:lvl7pPr algn="ctr">
              <a:defRPr sz="1125" b="0" i="0">
                <a:solidFill>
                  <a:srgbClr val="AFC0B8"/>
                </a:solidFill>
                <a:latin typeface="Arial"/>
                <a:ea typeface="Arial"/>
                <a:cs typeface="Arial"/>
              </a:defRPr>
            </a:lvl7pPr>
            <a:lvl8pPr algn="ctr">
              <a:defRPr sz="1125" b="0" i="0">
                <a:solidFill>
                  <a:srgbClr val="AFC0B8"/>
                </a:solidFill>
                <a:latin typeface="Arial"/>
                <a:ea typeface="Arial"/>
                <a:cs typeface="Arial"/>
              </a:defRPr>
            </a:lvl8pPr>
            <a:lvl9pPr algn="ctr">
              <a:defRPr sz="1125" b="0" i="0">
                <a:solidFill>
                  <a:srgbClr val="AFC0B8"/>
                </a:solidFill>
                <a:latin typeface="Arial"/>
                <a:ea typeface="Arial"/>
                <a:cs typeface="Arial"/>
              </a:defRPr>
            </a:lvl9pPr>
          </a:lstStyle>
          <a:p xmlns:a="http://schemas.openxmlformats.org/drawingml/2006/main">
            <a:pPr algn="ctr">
              <a:defRPr sz="1125" b="0" i="0">
                <a:solidFill>
                  <a:srgbClr val="AFC0B8"/>
                </a:solidFill>
                <a:latin typeface="Arial"/>
                <a:ea typeface="Arial"/>
                <a:cs typeface="Arial"/>
              </a:defRPr>
            </a:pPr>
            <a:r>
              <a:rPr sz="1125" b="0" i="0">
                <a:solidFill>
                  <a:srgbClr val="AFC0B8"/>
                </a:solidFill>
                <a:latin typeface="Arial"/>
                <a:ea typeface="Arial"/>
                <a:cs typeface="Arial"/>
              </a:rPr>
              <a:t>example: GGGGS</a:t>
            </a:r>
          </a:p>
        </p:txBody>
      </p:sp>
      <p:sp>
        <p:nvSpPr>
          <p:cNvPr id="21" name="">
            <a:extLst xmlns:a="http://schemas.openxmlformats.org/drawingml/2006/main">
              <a:ext uri="{FF2B5EF4-FFF2-40B4-BE49-F238E27FC236}">
                <a16:creationId xmlns:a16="http://schemas.microsoft.com/office/drawing/2014/main" id="{A52D42A0-D2FA-464F-A2DD-29F46DF0A55D}"/>
              </a:ext>
            </a:extLst>
          </p:cNvPr>
          <p:cNvSpPr>
            <a:spLocks xmlns:a="http://schemas.openxmlformats.org/drawingml/2006/main" noGrp="1"/>
          </p:cNvSpPr>
          <p:nvPr/>
        </p:nvSpPr>
        <p:spPr>
          <a:xfrm xmlns:a="http://schemas.openxmlformats.org/drawingml/2006/main">
            <a:off x="7943850" y="27813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2" name="">
            <a:extLst xmlns:a="http://schemas.openxmlformats.org/drawingml/2006/main">
              <a:ext uri="{FF2B5EF4-FFF2-40B4-BE49-F238E27FC236}">
                <a16:creationId xmlns:a16="http://schemas.microsoft.com/office/drawing/2014/main" id="{37568325-E0FE-4930-A1F4-5847C856239B}"/>
              </a:ext>
            </a:extLst>
          </p:cNvPr>
          <p:cNvSpPr>
            <a:spLocks xmlns:a="http://schemas.openxmlformats.org/drawingml/2006/main" noGrp="1"/>
          </p:cNvSpPr>
          <p:nvPr/>
        </p:nvSpPr>
        <p:spPr>
          <a:xfrm xmlns:a="http://schemas.openxmlformats.org/drawingml/2006/main">
            <a:off x="8991600" y="19050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ctr">
              <a:defRPr sz="975" b="1" i="0">
                <a:solidFill>
                  <a:srgbClr val="E46760"/>
                </a:solidFill>
                <a:latin typeface="Arial"/>
                <a:ea typeface="Arial"/>
                <a:cs typeface="Arial"/>
              </a:defRPr>
            </a:defPPr>
            <a:lvl1pPr algn="ctr">
              <a:defRPr sz="975" b="1" i="0">
                <a:solidFill>
                  <a:srgbClr val="E46760"/>
                </a:solidFill>
                <a:latin typeface="Arial"/>
                <a:ea typeface="Arial"/>
                <a:cs typeface="Arial"/>
              </a:defRPr>
            </a:lvl1pPr>
            <a:lvl2pPr algn="ctr">
              <a:defRPr sz="975" b="1" i="0">
                <a:solidFill>
                  <a:srgbClr val="E46760"/>
                </a:solidFill>
                <a:latin typeface="Arial"/>
                <a:ea typeface="Arial"/>
                <a:cs typeface="Arial"/>
              </a:defRPr>
            </a:lvl2pPr>
            <a:lvl3pPr algn="ctr">
              <a:defRPr sz="975" b="1" i="0">
                <a:solidFill>
                  <a:srgbClr val="E46760"/>
                </a:solidFill>
                <a:latin typeface="Arial"/>
                <a:ea typeface="Arial"/>
                <a:cs typeface="Arial"/>
              </a:defRPr>
            </a:lvl3pPr>
            <a:lvl4pPr algn="ctr">
              <a:defRPr sz="975" b="1" i="0">
                <a:solidFill>
                  <a:srgbClr val="E46760"/>
                </a:solidFill>
                <a:latin typeface="Arial"/>
                <a:ea typeface="Arial"/>
                <a:cs typeface="Arial"/>
              </a:defRPr>
            </a:lvl4pPr>
            <a:lvl5pPr algn="ctr">
              <a:defRPr sz="975" b="1" i="0">
                <a:solidFill>
                  <a:srgbClr val="E46760"/>
                </a:solidFill>
                <a:latin typeface="Arial"/>
                <a:ea typeface="Arial"/>
                <a:cs typeface="Arial"/>
              </a:defRPr>
            </a:lvl5pPr>
            <a:lvl6pPr algn="ctr">
              <a:defRPr sz="975" b="1" i="0">
                <a:solidFill>
                  <a:srgbClr val="E46760"/>
                </a:solidFill>
                <a:latin typeface="Arial"/>
                <a:ea typeface="Arial"/>
                <a:cs typeface="Arial"/>
              </a:defRPr>
            </a:lvl6pPr>
            <a:lvl7pPr algn="ctr">
              <a:defRPr sz="975" b="1" i="0">
                <a:solidFill>
                  <a:srgbClr val="E46760"/>
                </a:solidFill>
                <a:latin typeface="Arial"/>
                <a:ea typeface="Arial"/>
                <a:cs typeface="Arial"/>
              </a:defRPr>
            </a:lvl7pPr>
            <a:lvl8pPr algn="ctr">
              <a:defRPr sz="975" b="1" i="0">
                <a:solidFill>
                  <a:srgbClr val="E46760"/>
                </a:solidFill>
                <a:latin typeface="Arial"/>
                <a:ea typeface="Arial"/>
                <a:cs typeface="Arial"/>
              </a:defRPr>
            </a:lvl8pPr>
            <a:lvl9pPr algn="ctr">
              <a:defRPr sz="975" b="1" i="0">
                <a:solidFill>
                  <a:srgbClr val="E46760"/>
                </a:solidFill>
                <a:latin typeface="Arial"/>
                <a:ea typeface="Arial"/>
                <a:cs typeface="Arial"/>
              </a:defRPr>
            </a:lvl9pPr>
          </a:lstStyle>
          <a:p xmlns:a="http://schemas.openxmlformats.org/drawingml/2006/main">
            <a:pPr algn="ctr">
              <a:defRPr sz="975" b="1" i="0">
                <a:solidFill>
                  <a:srgbClr val="E46760"/>
                </a:solidFill>
                <a:latin typeface="Arial"/>
                <a:ea typeface="Arial"/>
                <a:cs typeface="Arial"/>
              </a:defRPr>
            </a:pPr>
            <a:r>
              <a:rPr sz="975" b="1" i="0">
                <a:solidFill>
                  <a:srgbClr val="E46760"/>
                </a:solidFill>
                <a:latin typeface="Arial"/>
                <a:ea typeface="Arial"/>
                <a:cs typeface="Arial"/>
              </a:rPr>
              <a:t>DOMAIN B</a:t>
            </a:r>
          </a:p>
        </p:txBody>
      </p:sp>
      <p:sp>
        <p:nvSpPr>
          <p:cNvPr id="23" name="">
            <a:extLst xmlns:a="http://schemas.openxmlformats.org/drawingml/2006/main">
              <a:ext uri="{FF2B5EF4-FFF2-40B4-BE49-F238E27FC236}">
                <a16:creationId xmlns:a16="http://schemas.microsoft.com/office/drawing/2014/main" id="{AC00DBBF-3422-47CC-B026-4CB906FB507F}"/>
              </a:ext>
            </a:extLst>
          </p:cNvPr>
          <p:cNvSpPr>
            <a:spLocks xmlns:a="http://schemas.openxmlformats.org/drawingml/2006/main" noGrp="1"/>
          </p:cNvSpPr>
          <p:nvPr/>
        </p:nvSpPr>
        <p:spPr>
          <a:xfrm xmlns:a="http://schemas.openxmlformats.org/drawingml/2006/main">
            <a:off x="8991600" y="2247900"/>
            <a:ext cx="2381250" cy="1066800"/>
          </a:xfrm>
          <a:prstGeom xmlns:a="http://schemas.openxmlformats.org/drawingml/2006/main" prst="roundRect">
            <a:avLst>
              <a:gd name="adj" fmla="val 7143"/>
            </a:avLst>
          </a:prstGeom>
          <a:solidFill xmlns:a="http://schemas.openxmlformats.org/drawingml/2006/main">
            <a:srgbClr val="4A251E"/>
          </a:solidFill>
          <a:ln xmlns:a="http://schemas.openxmlformats.org/drawingml/2006/main" w="19050">
            <a:solidFill>
              <a:srgbClr val="E46760"/>
            </a:solidFill>
            <a:prstDash val="solid"/>
          </a:ln>
        </p:spPr>
      </p:sp>
      <p:sp>
        <p:nvSpPr>
          <p:cNvPr id="24" name="">
            <a:extLst xmlns:a="http://schemas.openxmlformats.org/drawingml/2006/main">
              <a:ext uri="{FF2B5EF4-FFF2-40B4-BE49-F238E27FC236}">
                <a16:creationId xmlns:a16="http://schemas.microsoft.com/office/drawing/2014/main" id="{FE5692F2-A459-4B17-AB07-D57E00075768}"/>
              </a:ext>
            </a:extLst>
          </p:cNvPr>
          <p:cNvSpPr>
            <a:spLocks xmlns:a="http://schemas.openxmlformats.org/drawingml/2006/main" noGrp="1"/>
          </p:cNvSpPr>
          <p:nvPr/>
        </p:nvSpPr>
        <p:spPr>
          <a:xfrm xmlns:a="http://schemas.openxmlformats.org/drawingml/2006/main">
            <a:off x="8991600" y="2590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defPPr algn="ctr">
              <a:defRPr sz="1725" b="1" i="0">
                <a:solidFill>
                  <a:srgbClr val="F4F7F5"/>
                </a:solidFill>
                <a:latin typeface="Arial"/>
                <a:ea typeface="Arial"/>
                <a:cs typeface="Arial"/>
              </a:defRPr>
            </a:defPPr>
            <a:lvl1pPr algn="ctr">
              <a:defRPr sz="1725" b="1" i="0">
                <a:solidFill>
                  <a:srgbClr val="F4F7F5"/>
                </a:solidFill>
                <a:latin typeface="Arial"/>
                <a:ea typeface="Arial"/>
                <a:cs typeface="Arial"/>
              </a:defRPr>
            </a:lvl1pPr>
            <a:lvl2pPr algn="ctr">
              <a:defRPr sz="1725" b="1" i="0">
                <a:solidFill>
                  <a:srgbClr val="F4F7F5"/>
                </a:solidFill>
                <a:latin typeface="Arial"/>
                <a:ea typeface="Arial"/>
                <a:cs typeface="Arial"/>
              </a:defRPr>
            </a:lvl2pPr>
            <a:lvl3pPr algn="ctr">
              <a:defRPr sz="1725" b="1" i="0">
                <a:solidFill>
                  <a:srgbClr val="F4F7F5"/>
                </a:solidFill>
                <a:latin typeface="Arial"/>
                <a:ea typeface="Arial"/>
                <a:cs typeface="Arial"/>
              </a:defRPr>
            </a:lvl3pPr>
            <a:lvl4pPr algn="ctr">
              <a:defRPr sz="1725" b="1" i="0">
                <a:solidFill>
                  <a:srgbClr val="F4F7F5"/>
                </a:solidFill>
                <a:latin typeface="Arial"/>
                <a:ea typeface="Arial"/>
                <a:cs typeface="Arial"/>
              </a:defRPr>
            </a:lvl4pPr>
            <a:lvl5pPr algn="ctr">
              <a:defRPr sz="1725" b="1" i="0">
                <a:solidFill>
                  <a:srgbClr val="F4F7F5"/>
                </a:solidFill>
                <a:latin typeface="Arial"/>
                <a:ea typeface="Arial"/>
                <a:cs typeface="Arial"/>
              </a:defRPr>
            </a:lvl5pPr>
            <a:lvl6pPr algn="ctr">
              <a:defRPr sz="1725" b="1" i="0">
                <a:solidFill>
                  <a:srgbClr val="F4F7F5"/>
                </a:solidFill>
                <a:latin typeface="Arial"/>
                <a:ea typeface="Arial"/>
                <a:cs typeface="Arial"/>
              </a:defRPr>
            </a:lvl6pPr>
            <a:lvl7pPr algn="ctr">
              <a:defRPr sz="1725" b="1" i="0">
                <a:solidFill>
                  <a:srgbClr val="F4F7F5"/>
                </a:solidFill>
                <a:latin typeface="Arial"/>
                <a:ea typeface="Arial"/>
                <a:cs typeface="Arial"/>
              </a:defRPr>
            </a:lvl7pPr>
            <a:lvl8pPr algn="ctr">
              <a:defRPr sz="1725" b="1" i="0">
                <a:solidFill>
                  <a:srgbClr val="F4F7F5"/>
                </a:solidFill>
                <a:latin typeface="Arial"/>
                <a:ea typeface="Arial"/>
                <a:cs typeface="Arial"/>
              </a:defRPr>
            </a:lvl8pPr>
            <a:lvl9pPr algn="ctr">
              <a:defRPr sz="1725" b="1" i="0">
                <a:solidFill>
                  <a:srgbClr val="F4F7F5"/>
                </a:solidFill>
                <a:latin typeface="Arial"/>
                <a:ea typeface="Arial"/>
                <a:cs typeface="Arial"/>
              </a:defRPr>
            </a:lvl9pPr>
          </a:lstStyle>
          <a:p xmlns:a="http://schemas.openxmlformats.org/drawingml/2006/main">
            <a:pPr algn="ctr">
              <a:defRPr sz="1725" b="1" i="0">
                <a:solidFill>
                  <a:srgbClr val="F4F7F5"/>
                </a:solidFill>
                <a:latin typeface="Arial"/>
                <a:ea typeface="Arial"/>
                <a:cs typeface="Arial"/>
              </a:defRPr>
            </a:pPr>
            <a:r>
              <a:rPr sz="1725" b="1" i="0">
                <a:solidFill>
                  <a:srgbClr val="F4F7F5"/>
                </a:solidFill>
                <a:latin typeface="Arial"/>
                <a:ea typeface="Arial"/>
                <a:cs typeface="Arial"/>
              </a:rPr>
              <a:t>Protein domain B</a:t>
            </a:r>
          </a:p>
        </p:txBody>
      </p:sp>
      <p:sp>
        <p:nvSpPr>
          <p:cNvPr id="25" name="">
            <a:extLst xmlns:a="http://schemas.openxmlformats.org/drawingml/2006/main">
              <a:ext uri="{FF2B5EF4-FFF2-40B4-BE49-F238E27FC236}">
                <a16:creationId xmlns:a16="http://schemas.microsoft.com/office/drawing/2014/main" id="{39325DD5-8D46-42E0-9F35-60783D3F5411}"/>
              </a:ext>
            </a:extLst>
          </p:cNvPr>
          <p:cNvSpPr>
            <a:spLocks xmlns:a="http://schemas.openxmlformats.org/drawingml/2006/main" noGrp="1"/>
          </p:cNvSpPr>
          <p:nvPr/>
        </p:nvSpPr>
        <p:spPr>
          <a:xfrm xmlns:a="http://schemas.openxmlformats.org/drawingml/2006/main">
            <a:off x="666750" y="3752850"/>
            <a:ext cx="108585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6" name="">
            <a:extLst xmlns:a="http://schemas.openxmlformats.org/drawingml/2006/main">
              <a:ext uri="{FF2B5EF4-FFF2-40B4-BE49-F238E27FC236}">
                <a16:creationId xmlns:a16="http://schemas.microsoft.com/office/drawing/2014/main" id="{F6E19E31-73C9-405F-BF89-F233BCD05DEE}"/>
              </a:ext>
            </a:extLst>
          </p:cNvPr>
          <p:cNvSpPr>
            <a:spLocks xmlns:a="http://schemas.openxmlformats.org/drawingml/2006/main" noGrp="1"/>
          </p:cNvSpPr>
          <p:nvPr/>
        </p:nvSpPr>
        <p:spPr>
          <a:xfrm xmlns:a="http://schemas.openxmlformats.org/drawingml/2006/main">
            <a:off x="781050" y="4095750"/>
            <a:ext cx="285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l">
              <a:defRPr sz="975" b="1" i="0">
                <a:solidFill>
                  <a:srgbClr val="4E9BEC"/>
                </a:solidFill>
                <a:latin typeface="Arial"/>
                <a:ea typeface="Arial"/>
                <a:cs typeface="Arial"/>
              </a:defRPr>
            </a:defPPr>
            <a:lvl1pPr algn="l">
              <a:defRPr sz="975" b="1" i="0">
                <a:solidFill>
                  <a:srgbClr val="4E9BEC"/>
                </a:solidFill>
                <a:latin typeface="Arial"/>
                <a:ea typeface="Arial"/>
                <a:cs typeface="Arial"/>
              </a:defRPr>
            </a:lvl1pPr>
            <a:lvl2pPr algn="l">
              <a:defRPr sz="975" b="1" i="0">
                <a:solidFill>
                  <a:srgbClr val="4E9BEC"/>
                </a:solidFill>
                <a:latin typeface="Arial"/>
                <a:ea typeface="Arial"/>
                <a:cs typeface="Arial"/>
              </a:defRPr>
            </a:lvl2pPr>
            <a:lvl3pPr algn="l">
              <a:defRPr sz="975" b="1" i="0">
                <a:solidFill>
                  <a:srgbClr val="4E9BEC"/>
                </a:solidFill>
                <a:latin typeface="Arial"/>
                <a:ea typeface="Arial"/>
                <a:cs typeface="Arial"/>
              </a:defRPr>
            </a:lvl3pPr>
            <a:lvl4pPr algn="l">
              <a:defRPr sz="975" b="1" i="0">
                <a:solidFill>
                  <a:srgbClr val="4E9BEC"/>
                </a:solidFill>
                <a:latin typeface="Arial"/>
                <a:ea typeface="Arial"/>
                <a:cs typeface="Arial"/>
              </a:defRPr>
            </a:lvl4pPr>
            <a:lvl5pPr algn="l">
              <a:defRPr sz="975" b="1" i="0">
                <a:solidFill>
                  <a:srgbClr val="4E9BEC"/>
                </a:solidFill>
                <a:latin typeface="Arial"/>
                <a:ea typeface="Arial"/>
                <a:cs typeface="Arial"/>
              </a:defRPr>
            </a:lvl5pPr>
            <a:lvl6pPr algn="l">
              <a:defRPr sz="975" b="1" i="0">
                <a:solidFill>
                  <a:srgbClr val="4E9BEC"/>
                </a:solidFill>
                <a:latin typeface="Arial"/>
                <a:ea typeface="Arial"/>
                <a:cs typeface="Arial"/>
              </a:defRPr>
            </a:lvl6pPr>
            <a:lvl7pPr algn="l">
              <a:defRPr sz="975" b="1" i="0">
                <a:solidFill>
                  <a:srgbClr val="4E9BEC"/>
                </a:solidFill>
                <a:latin typeface="Arial"/>
                <a:ea typeface="Arial"/>
                <a:cs typeface="Arial"/>
              </a:defRPr>
            </a:lvl7pPr>
            <a:lvl8pPr algn="l">
              <a:defRPr sz="975" b="1" i="0">
                <a:solidFill>
                  <a:srgbClr val="4E9BEC"/>
                </a:solidFill>
                <a:latin typeface="Arial"/>
                <a:ea typeface="Arial"/>
                <a:cs typeface="Arial"/>
              </a:defRPr>
            </a:lvl8pPr>
            <a:lvl9pPr algn="l">
              <a:defRPr sz="975" b="1" i="0">
                <a:solidFill>
                  <a:srgbClr val="4E9BEC"/>
                </a:solidFill>
                <a:latin typeface="Arial"/>
                <a:ea typeface="Arial"/>
                <a:cs typeface="Arial"/>
              </a:defRPr>
            </a:lvl9pPr>
          </a:lstStyle>
          <a:p xmlns:a="http://schemas.openxmlformats.org/drawingml/2006/main">
            <a:pPr algn="l">
              <a:defRPr sz="975" b="1" i="0">
                <a:solidFill>
                  <a:srgbClr val="4E9BEC"/>
                </a:solidFill>
                <a:latin typeface="Arial"/>
                <a:ea typeface="Arial"/>
                <a:cs typeface="Arial"/>
              </a:defRPr>
            </a:pPr>
            <a:r>
              <a:rPr sz="975" b="1" i="0">
                <a:solidFill>
                  <a:srgbClr val="4E9BEC"/>
                </a:solidFill>
                <a:latin typeface="Arial"/>
                <a:ea typeface="Arial"/>
                <a:cs typeface="Arial"/>
              </a:rPr>
              <a:t>SEPARATION</a:t>
            </a:r>
          </a:p>
        </p:txBody>
      </p:sp>
      <p:sp>
        <p:nvSpPr>
          <p:cNvPr id="27" name="">
            <a:extLst xmlns:a="http://schemas.openxmlformats.org/drawingml/2006/main">
              <a:ext uri="{FF2B5EF4-FFF2-40B4-BE49-F238E27FC236}">
                <a16:creationId xmlns:a16="http://schemas.microsoft.com/office/drawing/2014/main" id="{96FB3960-AF02-4C1E-9F6A-7F6F109C2BB3}"/>
              </a:ext>
            </a:extLst>
          </p:cNvPr>
          <p:cNvSpPr>
            <a:spLocks xmlns:a="http://schemas.openxmlformats.org/drawingml/2006/main" noGrp="1"/>
          </p:cNvSpPr>
          <p:nvPr/>
        </p:nvSpPr>
        <p:spPr>
          <a:xfrm xmlns:a="http://schemas.openxmlformats.org/drawingml/2006/main">
            <a:off x="781050" y="44386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602"/>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Controls the distance between the connected domains</a:t>
            </a:r>
          </a:p>
        </p:txBody>
      </p:sp>
      <p:sp>
        <p:nvSpPr>
          <p:cNvPr id="28" name="">
            <a:extLst xmlns:a="http://schemas.openxmlformats.org/drawingml/2006/main">
              <a:ext uri="{FF2B5EF4-FFF2-40B4-BE49-F238E27FC236}">
                <a16:creationId xmlns:a16="http://schemas.microsoft.com/office/drawing/2014/main" id="{F19C5794-F7BA-4C6C-ACF1-14D22F04BCAD}"/>
              </a:ext>
            </a:extLst>
          </p:cNvPr>
          <p:cNvSpPr>
            <a:spLocks xmlns:a="http://schemas.openxmlformats.org/drawingml/2006/main" noGrp="1"/>
          </p:cNvSpPr>
          <p:nvPr/>
        </p:nvSpPr>
        <p:spPr>
          <a:xfrm xmlns:a="http://schemas.openxmlformats.org/drawingml/2006/main">
            <a:off x="3924300" y="4048125"/>
            <a:ext cx="0" cy="114300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
            <a:extLst xmlns:a="http://schemas.openxmlformats.org/drawingml/2006/main">
              <a:ext uri="{FF2B5EF4-FFF2-40B4-BE49-F238E27FC236}">
                <a16:creationId xmlns:a16="http://schemas.microsoft.com/office/drawing/2014/main" id="{BB8DCFFA-E81C-4EDC-8760-89ECA7C2B6C0}"/>
              </a:ext>
            </a:extLst>
          </p:cNvPr>
          <p:cNvSpPr>
            <a:spLocks xmlns:a="http://schemas.openxmlformats.org/drawingml/2006/main" noGrp="1"/>
          </p:cNvSpPr>
          <p:nvPr/>
        </p:nvSpPr>
        <p:spPr>
          <a:xfrm xmlns:a="http://schemas.openxmlformats.org/drawingml/2006/main">
            <a:off x="4362450" y="4095750"/>
            <a:ext cx="285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MOBILITY</a:t>
            </a:r>
          </a:p>
        </p:txBody>
      </p:sp>
      <p:sp>
        <p:nvSpPr>
          <p:cNvPr id="30" name="">
            <a:extLst xmlns:a="http://schemas.openxmlformats.org/drawingml/2006/main">
              <a:ext uri="{FF2B5EF4-FFF2-40B4-BE49-F238E27FC236}">
                <a16:creationId xmlns:a16="http://schemas.microsoft.com/office/drawing/2014/main" id="{08F480BA-82B5-4F7F-9F7B-22A1D5F9729C}"/>
              </a:ext>
            </a:extLst>
          </p:cNvPr>
          <p:cNvSpPr>
            <a:spLocks xmlns:a="http://schemas.openxmlformats.org/drawingml/2006/main" noGrp="1"/>
          </p:cNvSpPr>
          <p:nvPr/>
        </p:nvSpPr>
        <p:spPr>
          <a:xfrm xmlns:a="http://schemas.openxmlformats.org/drawingml/2006/main">
            <a:off x="4362450" y="44386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Permits or restricts changes in relative domain orientation</a:t>
            </a:r>
          </a:p>
        </p:txBody>
      </p:sp>
      <p:sp>
        <p:nvSpPr>
          <p:cNvPr id="31" name="">
            <a:extLst xmlns:a="http://schemas.openxmlformats.org/drawingml/2006/main">
              <a:ext uri="{FF2B5EF4-FFF2-40B4-BE49-F238E27FC236}">
                <a16:creationId xmlns:a16="http://schemas.microsoft.com/office/drawing/2014/main" id="{90135D35-FF6A-4277-B75E-C0C6443ABFF3}"/>
              </a:ext>
            </a:extLst>
          </p:cNvPr>
          <p:cNvSpPr>
            <a:spLocks xmlns:a="http://schemas.openxmlformats.org/drawingml/2006/main" noGrp="1"/>
          </p:cNvSpPr>
          <p:nvPr/>
        </p:nvSpPr>
        <p:spPr>
          <a:xfrm xmlns:a="http://schemas.openxmlformats.org/drawingml/2006/main">
            <a:off x="7524750" y="4048125"/>
            <a:ext cx="0" cy="114300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32" name="">
            <a:extLst xmlns:a="http://schemas.openxmlformats.org/drawingml/2006/main">
              <a:ext uri="{FF2B5EF4-FFF2-40B4-BE49-F238E27FC236}">
                <a16:creationId xmlns:a16="http://schemas.microsoft.com/office/drawing/2014/main" id="{F641BACC-0F3E-4EDF-931C-F4FD528A28E7}"/>
              </a:ext>
            </a:extLst>
          </p:cNvPr>
          <p:cNvSpPr>
            <a:spLocks xmlns:a="http://schemas.openxmlformats.org/drawingml/2006/main" noGrp="1"/>
          </p:cNvSpPr>
          <p:nvPr/>
        </p:nvSpPr>
        <p:spPr>
          <a:xfrm xmlns:a="http://schemas.openxmlformats.org/drawingml/2006/main">
            <a:off x="7962900" y="4095750"/>
            <a:ext cx="323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l">
              <a:defRPr sz="975" b="1" i="0">
                <a:solidFill>
                  <a:srgbClr val="3FC6D6"/>
                </a:solidFill>
                <a:latin typeface="Arial"/>
                <a:ea typeface="Arial"/>
                <a:cs typeface="Arial"/>
              </a:defRPr>
            </a:defPPr>
            <a:lvl1pPr algn="l">
              <a:defRPr sz="975" b="1" i="0">
                <a:solidFill>
                  <a:srgbClr val="3FC6D6"/>
                </a:solidFill>
                <a:latin typeface="Arial"/>
                <a:ea typeface="Arial"/>
                <a:cs typeface="Arial"/>
              </a:defRPr>
            </a:lvl1pPr>
            <a:lvl2pPr algn="l">
              <a:defRPr sz="975" b="1" i="0">
                <a:solidFill>
                  <a:srgbClr val="3FC6D6"/>
                </a:solidFill>
                <a:latin typeface="Arial"/>
                <a:ea typeface="Arial"/>
                <a:cs typeface="Arial"/>
              </a:defRPr>
            </a:lvl2pPr>
            <a:lvl3pPr algn="l">
              <a:defRPr sz="975" b="1" i="0">
                <a:solidFill>
                  <a:srgbClr val="3FC6D6"/>
                </a:solidFill>
                <a:latin typeface="Arial"/>
                <a:ea typeface="Arial"/>
                <a:cs typeface="Arial"/>
              </a:defRPr>
            </a:lvl3pPr>
            <a:lvl4pPr algn="l">
              <a:defRPr sz="975" b="1" i="0">
                <a:solidFill>
                  <a:srgbClr val="3FC6D6"/>
                </a:solidFill>
                <a:latin typeface="Arial"/>
                <a:ea typeface="Arial"/>
                <a:cs typeface="Arial"/>
              </a:defRPr>
            </a:lvl4pPr>
            <a:lvl5pPr algn="l">
              <a:defRPr sz="975" b="1" i="0">
                <a:solidFill>
                  <a:srgbClr val="3FC6D6"/>
                </a:solidFill>
                <a:latin typeface="Arial"/>
                <a:ea typeface="Arial"/>
                <a:cs typeface="Arial"/>
              </a:defRPr>
            </a:lvl5pPr>
            <a:lvl6pPr algn="l">
              <a:defRPr sz="975" b="1" i="0">
                <a:solidFill>
                  <a:srgbClr val="3FC6D6"/>
                </a:solidFill>
                <a:latin typeface="Arial"/>
                <a:ea typeface="Arial"/>
                <a:cs typeface="Arial"/>
              </a:defRPr>
            </a:lvl6pPr>
            <a:lvl7pPr algn="l">
              <a:defRPr sz="975" b="1" i="0">
                <a:solidFill>
                  <a:srgbClr val="3FC6D6"/>
                </a:solidFill>
                <a:latin typeface="Arial"/>
                <a:ea typeface="Arial"/>
                <a:cs typeface="Arial"/>
              </a:defRPr>
            </a:lvl7pPr>
            <a:lvl8pPr algn="l">
              <a:defRPr sz="975" b="1" i="0">
                <a:solidFill>
                  <a:srgbClr val="3FC6D6"/>
                </a:solidFill>
                <a:latin typeface="Arial"/>
                <a:ea typeface="Arial"/>
                <a:cs typeface="Arial"/>
              </a:defRPr>
            </a:lvl8pPr>
            <a:lvl9pPr algn="l">
              <a:defRPr sz="975" b="1" i="0">
                <a:solidFill>
                  <a:srgbClr val="3FC6D6"/>
                </a:solidFill>
                <a:latin typeface="Arial"/>
                <a:ea typeface="Arial"/>
                <a:cs typeface="Arial"/>
              </a:defRPr>
            </a:lvl9pPr>
          </a:lstStyle>
          <a:p xmlns:a="http://schemas.openxmlformats.org/drawingml/2006/main">
            <a:pPr algn="l">
              <a:defRPr sz="975" b="1" i="0">
                <a:solidFill>
                  <a:srgbClr val="3FC6D6"/>
                </a:solidFill>
                <a:latin typeface="Arial"/>
                <a:ea typeface="Arial"/>
                <a:cs typeface="Arial"/>
              </a:defRPr>
            </a:pPr>
            <a:r>
              <a:rPr sz="975" b="1" i="0">
                <a:solidFill>
                  <a:srgbClr val="3FC6D6"/>
                </a:solidFill>
                <a:latin typeface="Arial"/>
                <a:ea typeface="Arial"/>
                <a:cs typeface="Arial"/>
              </a:rPr>
              <a:t>DOMAIN INTERFERENCE</a:t>
            </a:r>
          </a:p>
        </p:txBody>
      </p:sp>
      <p:sp>
        <p:nvSpPr>
          <p:cNvPr id="33" name="">
            <a:extLst xmlns:a="http://schemas.openxmlformats.org/drawingml/2006/main">
              <a:ext uri="{FF2B5EF4-FFF2-40B4-BE49-F238E27FC236}">
                <a16:creationId xmlns:a16="http://schemas.microsoft.com/office/drawing/2014/main" id="{3CD4CE40-3848-4179-8718-55744995F43B}"/>
              </a:ext>
            </a:extLst>
          </p:cNvPr>
          <p:cNvSpPr>
            <a:spLocks xmlns:a="http://schemas.openxmlformats.org/drawingml/2006/main" noGrp="1"/>
          </p:cNvSpPr>
          <p:nvPr/>
        </p:nvSpPr>
        <p:spPr>
          <a:xfrm xmlns:a="http://schemas.openxmlformats.org/drawingml/2006/main">
            <a:off x="7962900" y="4438650"/>
            <a:ext cx="3238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Can reduce steric contact and help each domain retain its role</a:t>
            </a:r>
          </a:p>
        </p:txBody>
      </p:sp>
      <p:sp>
        <p:nvSpPr>
          <p:cNvPr id="34" name="">
            <a:extLst xmlns:a="http://schemas.openxmlformats.org/drawingml/2006/main">
              <a:ext uri="{FF2B5EF4-FFF2-40B4-BE49-F238E27FC236}">
                <a16:creationId xmlns:a16="http://schemas.microsoft.com/office/drawing/2014/main" id="{1ADAC93D-7051-43B3-AE06-346C0034D081}"/>
              </a:ext>
            </a:extLst>
          </p:cNvPr>
          <p:cNvSpPr>
            <a:spLocks xmlns:a="http://schemas.openxmlformats.org/drawingml/2006/main" noGrp="1"/>
          </p:cNvSpPr>
          <p:nvPr/>
        </p:nvSpPr>
        <p:spPr>
          <a:xfrm xmlns:a="http://schemas.openxmlformats.org/drawingml/2006/main">
            <a:off x="666750" y="5429250"/>
            <a:ext cx="108585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35" name="">
            <a:extLst xmlns:a="http://schemas.openxmlformats.org/drawingml/2006/main">
              <a:ext uri="{FF2B5EF4-FFF2-40B4-BE49-F238E27FC236}">
                <a16:creationId xmlns:a16="http://schemas.microsoft.com/office/drawing/2014/main" id="{19D75485-A39B-425A-91BB-8A0506744811}"/>
              </a:ext>
            </a:extLst>
          </p:cNvPr>
          <p:cNvSpPr>
            <a:spLocks xmlns:a="http://schemas.openxmlformats.org/drawingml/2006/main" noGrp="1"/>
          </p:cNvSpPr>
          <p:nvPr/>
        </p:nvSpPr>
        <p:spPr>
          <a:xfrm xmlns:a="http://schemas.openxmlformats.org/drawingml/2006/main">
            <a:off x="781050" y="5657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KEY POINT</a:t>
            </a:r>
          </a:p>
        </p:txBody>
      </p:sp>
      <p:sp>
        <p:nvSpPr>
          <p:cNvPr id="36" name="">
            <a:extLst xmlns:a="http://schemas.openxmlformats.org/drawingml/2006/main">
              <a:ext uri="{FF2B5EF4-FFF2-40B4-BE49-F238E27FC236}">
                <a16:creationId xmlns:a16="http://schemas.microsoft.com/office/drawing/2014/main" id="{2A399193-7907-4D56-9E8B-E74CBF689ACB}"/>
              </a:ext>
            </a:extLst>
          </p:cNvPr>
          <p:cNvSpPr>
            <a:spLocks xmlns:a="http://schemas.openxmlformats.org/drawingml/2006/main" noGrp="1"/>
          </p:cNvSpPr>
          <p:nvPr/>
        </p:nvSpPr>
        <p:spPr>
          <a:xfrm xmlns:a="http://schemas.openxmlformats.org/drawingml/2006/main">
            <a:off x="2190750" y="5572125"/>
            <a:ext cx="904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xmlns:a="http://schemas.openxmlformats.org/drawingml/2006/main">
            <a:pPr algn="l">
              <a:defRPr sz="1350" b="1" i="0">
                <a:solidFill>
                  <a:srgbClr val="F4F7F5"/>
                </a:solidFill>
                <a:latin typeface="Arial"/>
                <a:ea typeface="Arial"/>
                <a:cs typeface="Arial"/>
              </a:defRPr>
            </a:pPr>
            <a:r>
              <a:rPr sz="1350" b="1" i="0">
                <a:solidFill>
                  <a:srgbClr val="F4F7F5"/>
                </a:solidFill>
                <a:latin typeface="Arial"/>
                <a:ea typeface="Arial"/>
                <a:cs typeface="Arial"/>
              </a:rPr>
              <a:t>A linker is part of the complete fusion protein. Its useful length and composition therefore depend on the connected domains and the intended biological task.</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D0B8E69-66D5-4B84-99F2-FEBBFE2DA6E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0BFA89-7E49-47BA-AE3A-D49203043AE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53F6E5F-39F6-492D-91DF-AA51F8844136}"/>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SCIENTIFIC PROBLEM</a:t>
            </a:r>
          </a:p>
        </p:txBody>
      </p:sp>
      <p:sp>
        <p:nvSpPr>
          <p:cNvPr id="4" name="">
            <a:extLst xmlns:a="http://schemas.openxmlformats.org/drawingml/2006/main">
              <a:ext uri="{FF2B5EF4-FFF2-40B4-BE49-F238E27FC236}">
                <a16:creationId xmlns:a16="http://schemas.microsoft.com/office/drawing/2014/main" id="{516F7312-076C-4300-9E95-5607C384B9F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Chen, Zaro &amp; Shen · Advanced Drug Delivery Reviews 65 (2013) 1357–1369 · McBride et al. · Proteins 94 (2026) 362–380</a:t>
            </a:r>
          </a:p>
        </p:txBody>
      </p:sp>
      <p:sp>
        <p:nvSpPr>
          <p:cNvPr id="5" name="">
            <a:extLst xmlns:a="http://schemas.openxmlformats.org/drawingml/2006/main">
              <a:ext uri="{FF2B5EF4-FFF2-40B4-BE49-F238E27FC236}">
                <a16:creationId xmlns:a16="http://schemas.microsoft.com/office/drawing/2014/main" id="{BDDA79EE-F3C4-4139-87F1-89673808793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
            <a:extLst xmlns:a="http://schemas.openxmlformats.org/drawingml/2006/main">
              <a:ext uri="{FF2B5EF4-FFF2-40B4-BE49-F238E27FC236}">
                <a16:creationId xmlns:a16="http://schemas.microsoft.com/office/drawing/2014/main" id="{DE1860F9-C414-453F-BF7B-BEAA1D29872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Why one linker does not fit every fusion</a:t>
            </a:r>
          </a:p>
        </p:txBody>
      </p:sp>
      <p:sp>
        <p:nvSpPr>
          <p:cNvPr id="7" name="">
            <a:extLst xmlns:a="http://schemas.openxmlformats.org/drawingml/2006/main">
              <a:ext uri="{FF2B5EF4-FFF2-40B4-BE49-F238E27FC236}">
                <a16:creationId xmlns:a16="http://schemas.microsoft.com/office/drawing/2014/main" id="{AAB99E3E-6E16-4E9F-B184-462EFD1571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Performance emerges from the partner proteins, attachment sites, linker sequence, and intended function</a:t>
            </a:r>
          </a:p>
        </p:txBody>
      </p:sp>
      <p:sp>
        <p:nvSpPr>
          <p:cNvPr id="8" name="">
            <a:extLst xmlns:a="http://schemas.openxmlformats.org/drawingml/2006/main">
              <a:ext uri="{FF2B5EF4-FFF2-40B4-BE49-F238E27FC236}">
                <a16:creationId xmlns:a16="http://schemas.microsoft.com/office/drawing/2014/main" id="{DEE0F576-33F1-4C33-963C-7C946F89A136}"/>
              </a:ext>
            </a:extLst>
          </p:cNvPr>
          <p:cNvSpPr>
            <a:spLocks xmlns:a="http://schemas.openxmlformats.org/drawingml/2006/main" noGrp="1"/>
          </p:cNvSpPr>
          <p:nvPr/>
        </p:nvSpPr>
        <p:spPr>
          <a:xfrm xmlns:a="http://schemas.openxmlformats.org/drawingml/2006/main">
            <a:off x="59055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l">
              <a:defRPr sz="975" b="1" i="0">
                <a:solidFill>
                  <a:srgbClr val="4E9BEC"/>
                </a:solidFill>
                <a:latin typeface="Arial"/>
                <a:ea typeface="Arial"/>
                <a:cs typeface="Arial"/>
              </a:defRPr>
            </a:defPPr>
            <a:lvl1pPr algn="l">
              <a:defRPr sz="975" b="1" i="0">
                <a:solidFill>
                  <a:srgbClr val="4E9BEC"/>
                </a:solidFill>
                <a:latin typeface="Arial"/>
                <a:ea typeface="Arial"/>
                <a:cs typeface="Arial"/>
              </a:defRPr>
            </a:lvl1pPr>
            <a:lvl2pPr algn="l">
              <a:defRPr sz="975" b="1" i="0">
                <a:solidFill>
                  <a:srgbClr val="4E9BEC"/>
                </a:solidFill>
                <a:latin typeface="Arial"/>
                <a:ea typeface="Arial"/>
                <a:cs typeface="Arial"/>
              </a:defRPr>
            </a:lvl2pPr>
            <a:lvl3pPr algn="l">
              <a:defRPr sz="975" b="1" i="0">
                <a:solidFill>
                  <a:srgbClr val="4E9BEC"/>
                </a:solidFill>
                <a:latin typeface="Arial"/>
                <a:ea typeface="Arial"/>
                <a:cs typeface="Arial"/>
              </a:defRPr>
            </a:lvl3pPr>
            <a:lvl4pPr algn="l">
              <a:defRPr sz="975" b="1" i="0">
                <a:solidFill>
                  <a:srgbClr val="4E9BEC"/>
                </a:solidFill>
                <a:latin typeface="Arial"/>
                <a:ea typeface="Arial"/>
                <a:cs typeface="Arial"/>
              </a:defRPr>
            </a:lvl4pPr>
            <a:lvl5pPr algn="l">
              <a:defRPr sz="975" b="1" i="0">
                <a:solidFill>
                  <a:srgbClr val="4E9BEC"/>
                </a:solidFill>
                <a:latin typeface="Arial"/>
                <a:ea typeface="Arial"/>
                <a:cs typeface="Arial"/>
              </a:defRPr>
            </a:lvl5pPr>
            <a:lvl6pPr algn="l">
              <a:defRPr sz="975" b="1" i="0">
                <a:solidFill>
                  <a:srgbClr val="4E9BEC"/>
                </a:solidFill>
                <a:latin typeface="Arial"/>
                <a:ea typeface="Arial"/>
                <a:cs typeface="Arial"/>
              </a:defRPr>
            </a:lvl6pPr>
            <a:lvl7pPr algn="l">
              <a:defRPr sz="975" b="1" i="0">
                <a:solidFill>
                  <a:srgbClr val="4E9BEC"/>
                </a:solidFill>
                <a:latin typeface="Arial"/>
                <a:ea typeface="Arial"/>
                <a:cs typeface="Arial"/>
              </a:defRPr>
            </a:lvl7pPr>
            <a:lvl8pPr algn="l">
              <a:defRPr sz="975" b="1" i="0">
                <a:solidFill>
                  <a:srgbClr val="4E9BEC"/>
                </a:solidFill>
                <a:latin typeface="Arial"/>
                <a:ea typeface="Arial"/>
                <a:cs typeface="Arial"/>
              </a:defRPr>
            </a:lvl8pPr>
            <a:lvl9pPr algn="l">
              <a:defRPr sz="975" b="1" i="0">
                <a:solidFill>
                  <a:srgbClr val="4E9BEC"/>
                </a:solidFill>
                <a:latin typeface="Arial"/>
                <a:ea typeface="Arial"/>
                <a:cs typeface="Arial"/>
              </a:defRPr>
            </a:lvl9pPr>
          </a:lstStyle>
          <a:p xmlns:a="http://schemas.openxmlformats.org/drawingml/2006/main">
            <a:pPr algn="l">
              <a:defRPr sz="975" b="1" i="0">
                <a:solidFill>
                  <a:srgbClr val="4E9BEC"/>
                </a:solidFill>
                <a:latin typeface="Arial"/>
                <a:ea typeface="Arial"/>
                <a:cs typeface="Arial"/>
              </a:defRPr>
            </a:pPr>
            <a:r>
              <a:rPr sz="975" b="1" i="0">
                <a:solidFill>
                  <a:srgbClr val="4E9BE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CF98556C-6250-413B-AB70-AFFB732932BD}"/>
              </a:ext>
            </a:extLst>
          </p:cNvPr>
          <p:cNvSpPr>
            <a:spLocks xmlns:a="http://schemas.openxmlformats.org/drawingml/2006/main" noGrp="1"/>
          </p:cNvSpPr>
          <p:nvPr/>
        </p:nvSpPr>
        <p:spPr>
          <a:xfrm xmlns:a="http://schemas.openxmlformats.org/drawingml/2006/main">
            <a:off x="1009650" y="173355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xmlns:a="http://schemas.openxmlformats.org/drawingml/2006/main">
            <a:pPr algn="l">
              <a:defRPr sz="1350" b="1" i="0">
                <a:solidFill>
                  <a:srgbClr val="F4F7F5"/>
                </a:solidFill>
                <a:latin typeface="Arial"/>
                <a:ea typeface="Arial"/>
                <a:cs typeface="Arial"/>
              </a:defRPr>
            </a:pPr>
            <a:r>
              <a:rPr sz="1350" b="1" i="0">
                <a:solidFill>
                  <a:srgbClr val="F4F7F5"/>
                </a:solidFill>
                <a:latin typeface="Arial"/>
                <a:ea typeface="Arial"/>
                <a:cs typeface="Arial"/>
              </a:rPr>
              <a:t>Partner proteins</a:t>
            </a:r>
          </a:p>
        </p:txBody>
      </p:sp>
      <p:sp>
        <p:nvSpPr>
          <p:cNvPr id="10" name="">
            <a:extLst xmlns:a="http://schemas.openxmlformats.org/drawingml/2006/main">
              <a:ext uri="{FF2B5EF4-FFF2-40B4-BE49-F238E27FC236}">
                <a16:creationId xmlns:a16="http://schemas.microsoft.com/office/drawing/2014/main" id="{C7952AAE-3EEE-484F-91EA-C3E3368A31A9}"/>
              </a:ext>
            </a:extLst>
          </p:cNvPr>
          <p:cNvSpPr>
            <a:spLocks xmlns:a="http://schemas.openxmlformats.org/drawingml/2006/main" noGrp="1"/>
          </p:cNvSpPr>
          <p:nvPr/>
        </p:nvSpPr>
        <p:spPr>
          <a:xfrm xmlns:a="http://schemas.openxmlformats.org/drawingml/2006/main">
            <a:off x="1009650" y="2076450"/>
            <a:ext cx="2143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surface shape and terminal geometry</a:t>
            </a:r>
          </a:p>
        </p:txBody>
      </p:sp>
      <p:sp>
        <p:nvSpPr>
          <p:cNvPr id="11" name="">
            <a:extLst xmlns:a="http://schemas.openxmlformats.org/drawingml/2006/main">
              <a:ext uri="{FF2B5EF4-FFF2-40B4-BE49-F238E27FC236}">
                <a16:creationId xmlns:a16="http://schemas.microsoft.com/office/drawing/2014/main" id="{1E8DC801-1394-42DB-AF15-D00612BCD961}"/>
              </a:ext>
            </a:extLst>
          </p:cNvPr>
          <p:cNvSpPr>
            <a:spLocks xmlns:a="http://schemas.openxmlformats.org/drawingml/2006/main" noGrp="1"/>
          </p:cNvSpPr>
          <p:nvPr/>
        </p:nvSpPr>
        <p:spPr>
          <a:xfrm xmlns:a="http://schemas.openxmlformats.org/drawingml/2006/main">
            <a:off x="3257550" y="1752600"/>
            <a:ext cx="0" cy="7810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
            <a:extLst xmlns:a="http://schemas.openxmlformats.org/drawingml/2006/main">
              <a:ext uri="{FF2B5EF4-FFF2-40B4-BE49-F238E27FC236}">
                <a16:creationId xmlns:a16="http://schemas.microsoft.com/office/drawing/2014/main" id="{9A1A2809-B640-4CD1-8FBE-84E4961C4360}"/>
              </a:ext>
            </a:extLst>
          </p:cNvPr>
          <p:cNvSpPr>
            <a:spLocks xmlns:a="http://schemas.openxmlformats.org/drawingml/2006/main" noGrp="1"/>
          </p:cNvSpPr>
          <p:nvPr/>
        </p:nvSpPr>
        <p:spPr>
          <a:xfrm xmlns:a="http://schemas.openxmlformats.org/drawingml/2006/main">
            <a:off x="340995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l">
              <a:defRPr sz="975" b="1" i="0">
                <a:solidFill>
                  <a:srgbClr val="2DBD73"/>
                </a:solidFill>
                <a:latin typeface="Arial"/>
                <a:ea typeface="Arial"/>
                <a:cs typeface="Arial"/>
              </a:defRPr>
            </a:defPPr>
            <a:lvl1pPr algn="l">
              <a:defRPr sz="975" b="1" i="0">
                <a:solidFill>
                  <a:srgbClr val="2DBD73"/>
                </a:solidFill>
                <a:latin typeface="Arial"/>
                <a:ea typeface="Arial"/>
                <a:cs typeface="Arial"/>
              </a:defRPr>
            </a:lvl1pPr>
            <a:lvl2pPr algn="l">
              <a:defRPr sz="975" b="1" i="0">
                <a:solidFill>
                  <a:srgbClr val="2DBD73"/>
                </a:solidFill>
                <a:latin typeface="Arial"/>
                <a:ea typeface="Arial"/>
                <a:cs typeface="Arial"/>
              </a:defRPr>
            </a:lvl2pPr>
            <a:lvl3pPr algn="l">
              <a:defRPr sz="975" b="1" i="0">
                <a:solidFill>
                  <a:srgbClr val="2DBD73"/>
                </a:solidFill>
                <a:latin typeface="Arial"/>
                <a:ea typeface="Arial"/>
                <a:cs typeface="Arial"/>
              </a:defRPr>
            </a:lvl3pPr>
            <a:lvl4pPr algn="l">
              <a:defRPr sz="975" b="1" i="0">
                <a:solidFill>
                  <a:srgbClr val="2DBD73"/>
                </a:solidFill>
                <a:latin typeface="Arial"/>
                <a:ea typeface="Arial"/>
                <a:cs typeface="Arial"/>
              </a:defRPr>
            </a:lvl4pPr>
            <a:lvl5pPr algn="l">
              <a:defRPr sz="975" b="1" i="0">
                <a:solidFill>
                  <a:srgbClr val="2DBD73"/>
                </a:solidFill>
                <a:latin typeface="Arial"/>
                <a:ea typeface="Arial"/>
                <a:cs typeface="Arial"/>
              </a:defRPr>
            </a:lvl5pPr>
            <a:lvl6pPr algn="l">
              <a:defRPr sz="975" b="1" i="0">
                <a:solidFill>
                  <a:srgbClr val="2DBD73"/>
                </a:solidFill>
                <a:latin typeface="Arial"/>
                <a:ea typeface="Arial"/>
                <a:cs typeface="Arial"/>
              </a:defRPr>
            </a:lvl6pPr>
            <a:lvl7pPr algn="l">
              <a:defRPr sz="975" b="1" i="0">
                <a:solidFill>
                  <a:srgbClr val="2DBD73"/>
                </a:solidFill>
                <a:latin typeface="Arial"/>
                <a:ea typeface="Arial"/>
                <a:cs typeface="Arial"/>
              </a:defRPr>
            </a:lvl7pPr>
            <a:lvl8pPr algn="l">
              <a:defRPr sz="975" b="1" i="0">
                <a:solidFill>
                  <a:srgbClr val="2DBD73"/>
                </a:solidFill>
                <a:latin typeface="Arial"/>
                <a:ea typeface="Arial"/>
                <a:cs typeface="Arial"/>
              </a:defRPr>
            </a:lvl8pPr>
            <a:lvl9pPr algn="l">
              <a:defRPr sz="975" b="1" i="0">
                <a:solidFill>
                  <a:srgbClr val="2DBD73"/>
                </a:solidFill>
                <a:latin typeface="Arial"/>
                <a:ea typeface="Arial"/>
                <a:cs typeface="Arial"/>
              </a:defRPr>
            </a:lvl9pPr>
          </a:lstStyle>
          <a:p xmlns:a="http://schemas.openxmlformats.org/drawingml/2006/main">
            <a:pPr algn="l">
              <a:defRPr sz="975" b="1" i="0">
                <a:solidFill>
                  <a:srgbClr val="2DBD73"/>
                </a:solidFill>
                <a:latin typeface="Arial"/>
                <a:ea typeface="Arial"/>
                <a:cs typeface="Arial"/>
              </a:defRPr>
            </a:pPr>
            <a:r>
              <a:rPr sz="975" b="1" i="0">
                <a:solidFill>
                  <a:srgbClr val="2DBD73"/>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BB7F7DFF-5019-420D-A8CE-4886B8FC1FEB}"/>
              </a:ext>
            </a:extLst>
          </p:cNvPr>
          <p:cNvSpPr>
            <a:spLocks xmlns:a="http://schemas.openxmlformats.org/drawingml/2006/main" noGrp="1"/>
          </p:cNvSpPr>
          <p:nvPr/>
        </p:nvSpPr>
        <p:spPr>
          <a:xfrm xmlns:a="http://schemas.openxmlformats.org/drawingml/2006/main">
            <a:off x="3829050" y="173355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xmlns:a="http://schemas.openxmlformats.org/drawingml/2006/main">
            <a:pPr algn="l">
              <a:defRPr sz="1350" b="1" i="0">
                <a:solidFill>
                  <a:srgbClr val="F4F7F5"/>
                </a:solidFill>
                <a:latin typeface="Arial"/>
                <a:ea typeface="Arial"/>
                <a:cs typeface="Arial"/>
              </a:defRPr>
            </a:pPr>
            <a:r>
              <a:rPr sz="1350" b="1" i="0">
                <a:solidFill>
                  <a:srgbClr val="F4F7F5"/>
                </a:solidFill>
                <a:latin typeface="Arial"/>
                <a:ea typeface="Arial"/>
                <a:cs typeface="Arial"/>
              </a:rPr>
              <a:t>Attachment sites</a:t>
            </a:r>
          </a:p>
        </p:txBody>
      </p:sp>
      <p:sp>
        <p:nvSpPr>
          <p:cNvPr id="14" name="">
            <a:extLst xmlns:a="http://schemas.openxmlformats.org/drawingml/2006/main">
              <a:ext uri="{FF2B5EF4-FFF2-40B4-BE49-F238E27FC236}">
                <a16:creationId xmlns:a16="http://schemas.microsoft.com/office/drawing/2014/main" id="{795C9E6E-9095-41E0-B10C-BCCF576C954D}"/>
              </a:ext>
            </a:extLst>
          </p:cNvPr>
          <p:cNvSpPr>
            <a:spLocks xmlns:a="http://schemas.openxmlformats.org/drawingml/2006/main" noGrp="1"/>
          </p:cNvSpPr>
          <p:nvPr/>
        </p:nvSpPr>
        <p:spPr>
          <a:xfrm xmlns:a="http://schemas.openxmlformats.org/drawingml/2006/main">
            <a:off x="3829050" y="2076450"/>
            <a:ext cx="2143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junction location and protected residues</a:t>
            </a:r>
          </a:p>
        </p:txBody>
      </p:sp>
      <p:sp>
        <p:nvSpPr>
          <p:cNvPr id="15" name="">
            <a:extLst xmlns:a="http://schemas.openxmlformats.org/drawingml/2006/main">
              <a:ext uri="{FF2B5EF4-FFF2-40B4-BE49-F238E27FC236}">
                <a16:creationId xmlns:a16="http://schemas.microsoft.com/office/drawing/2014/main" id="{C626CBD1-FB65-4E14-A211-9F865BE6B983}"/>
              </a:ext>
            </a:extLst>
          </p:cNvPr>
          <p:cNvSpPr>
            <a:spLocks xmlns:a="http://schemas.openxmlformats.org/drawingml/2006/main" noGrp="1"/>
          </p:cNvSpPr>
          <p:nvPr/>
        </p:nvSpPr>
        <p:spPr>
          <a:xfrm xmlns:a="http://schemas.openxmlformats.org/drawingml/2006/main">
            <a:off x="6076950" y="1752600"/>
            <a:ext cx="0" cy="7810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
            <a:extLst xmlns:a="http://schemas.openxmlformats.org/drawingml/2006/main">
              <a:ext uri="{FF2B5EF4-FFF2-40B4-BE49-F238E27FC236}">
                <a16:creationId xmlns:a16="http://schemas.microsoft.com/office/drawing/2014/main" id="{94D4BAD6-CF45-427D-B6DE-03D314D5A635}"/>
              </a:ext>
            </a:extLst>
          </p:cNvPr>
          <p:cNvSpPr>
            <a:spLocks xmlns:a="http://schemas.openxmlformats.org/drawingml/2006/main" noGrp="1"/>
          </p:cNvSpPr>
          <p:nvPr/>
        </p:nvSpPr>
        <p:spPr>
          <a:xfrm xmlns:a="http://schemas.openxmlformats.org/drawingml/2006/main">
            <a:off x="622935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612D2B27-957A-4440-8945-63E7BF4596B4}"/>
              </a:ext>
            </a:extLst>
          </p:cNvPr>
          <p:cNvSpPr>
            <a:spLocks xmlns:a="http://schemas.openxmlformats.org/drawingml/2006/main" noGrp="1"/>
          </p:cNvSpPr>
          <p:nvPr/>
        </p:nvSpPr>
        <p:spPr>
          <a:xfrm xmlns:a="http://schemas.openxmlformats.org/drawingml/2006/main">
            <a:off x="6648450" y="173355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xmlns:a="http://schemas.openxmlformats.org/drawingml/2006/main">
            <a:pPr algn="l">
              <a:defRPr sz="1350" b="1" i="0">
                <a:solidFill>
                  <a:srgbClr val="F4F7F5"/>
                </a:solidFill>
                <a:latin typeface="Arial"/>
                <a:ea typeface="Arial"/>
                <a:cs typeface="Arial"/>
              </a:defRPr>
            </a:pPr>
            <a:r>
              <a:rPr sz="1350" b="1" i="0">
                <a:solidFill>
                  <a:srgbClr val="F4F7F5"/>
                </a:solidFill>
                <a:latin typeface="Arial"/>
                <a:ea typeface="Arial"/>
                <a:cs typeface="Arial"/>
              </a:rPr>
              <a:t>Linker design</a:t>
            </a:r>
          </a:p>
        </p:txBody>
      </p:sp>
      <p:sp>
        <p:nvSpPr>
          <p:cNvPr id="18" name="">
            <a:extLst xmlns:a="http://schemas.openxmlformats.org/drawingml/2006/main">
              <a:ext uri="{FF2B5EF4-FFF2-40B4-BE49-F238E27FC236}">
                <a16:creationId xmlns:a16="http://schemas.microsoft.com/office/drawing/2014/main" id="{1C823E4A-C21C-485B-A585-D7AA1200F717}"/>
              </a:ext>
            </a:extLst>
          </p:cNvPr>
          <p:cNvSpPr>
            <a:spLocks xmlns:a="http://schemas.openxmlformats.org/drawingml/2006/main" noGrp="1"/>
          </p:cNvSpPr>
          <p:nvPr/>
        </p:nvSpPr>
        <p:spPr>
          <a:xfrm xmlns:a="http://schemas.openxmlformats.org/drawingml/2006/main">
            <a:off x="6648450" y="2076450"/>
            <a:ext cx="2143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length, flexibility, and charge</a:t>
            </a:r>
          </a:p>
        </p:txBody>
      </p:sp>
      <p:sp>
        <p:nvSpPr>
          <p:cNvPr id="19" name="">
            <a:extLst xmlns:a="http://schemas.openxmlformats.org/drawingml/2006/main">
              <a:ext uri="{FF2B5EF4-FFF2-40B4-BE49-F238E27FC236}">
                <a16:creationId xmlns:a16="http://schemas.microsoft.com/office/drawing/2014/main" id="{2D7543FD-3271-4772-A66A-431A4968332E}"/>
              </a:ext>
            </a:extLst>
          </p:cNvPr>
          <p:cNvSpPr>
            <a:spLocks xmlns:a="http://schemas.openxmlformats.org/drawingml/2006/main" noGrp="1"/>
          </p:cNvSpPr>
          <p:nvPr/>
        </p:nvSpPr>
        <p:spPr>
          <a:xfrm xmlns:a="http://schemas.openxmlformats.org/drawingml/2006/main">
            <a:off x="8896350" y="1752600"/>
            <a:ext cx="0" cy="7810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0" name="">
            <a:extLst xmlns:a="http://schemas.openxmlformats.org/drawingml/2006/main">
              <a:ext uri="{FF2B5EF4-FFF2-40B4-BE49-F238E27FC236}">
                <a16:creationId xmlns:a16="http://schemas.microsoft.com/office/drawing/2014/main" id="{4A004EB2-BCF5-48C3-A72B-2D650F3EF257}"/>
              </a:ext>
            </a:extLst>
          </p:cNvPr>
          <p:cNvSpPr>
            <a:spLocks xmlns:a="http://schemas.openxmlformats.org/drawingml/2006/main" noGrp="1"/>
          </p:cNvSpPr>
          <p:nvPr/>
        </p:nvSpPr>
        <p:spPr>
          <a:xfrm xmlns:a="http://schemas.openxmlformats.org/drawingml/2006/main">
            <a:off x="904875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l">
              <a:defRPr sz="975" b="1" i="0">
                <a:solidFill>
                  <a:srgbClr val="F1C84B"/>
                </a:solidFill>
                <a:latin typeface="Arial"/>
                <a:ea typeface="Arial"/>
                <a:cs typeface="Arial"/>
              </a:defRPr>
            </a:defPPr>
            <a:lvl1pPr algn="l">
              <a:defRPr sz="975" b="1" i="0">
                <a:solidFill>
                  <a:srgbClr val="F1C84B"/>
                </a:solidFill>
                <a:latin typeface="Arial"/>
                <a:ea typeface="Arial"/>
                <a:cs typeface="Arial"/>
              </a:defRPr>
            </a:lvl1pPr>
            <a:lvl2pPr algn="l">
              <a:defRPr sz="975" b="1" i="0">
                <a:solidFill>
                  <a:srgbClr val="F1C84B"/>
                </a:solidFill>
                <a:latin typeface="Arial"/>
                <a:ea typeface="Arial"/>
                <a:cs typeface="Arial"/>
              </a:defRPr>
            </a:lvl2pPr>
            <a:lvl3pPr algn="l">
              <a:defRPr sz="975" b="1" i="0">
                <a:solidFill>
                  <a:srgbClr val="F1C84B"/>
                </a:solidFill>
                <a:latin typeface="Arial"/>
                <a:ea typeface="Arial"/>
                <a:cs typeface="Arial"/>
              </a:defRPr>
            </a:lvl3pPr>
            <a:lvl4pPr algn="l">
              <a:defRPr sz="975" b="1" i="0">
                <a:solidFill>
                  <a:srgbClr val="F1C84B"/>
                </a:solidFill>
                <a:latin typeface="Arial"/>
                <a:ea typeface="Arial"/>
                <a:cs typeface="Arial"/>
              </a:defRPr>
            </a:lvl4pPr>
            <a:lvl5pPr algn="l">
              <a:defRPr sz="975" b="1" i="0">
                <a:solidFill>
                  <a:srgbClr val="F1C84B"/>
                </a:solidFill>
                <a:latin typeface="Arial"/>
                <a:ea typeface="Arial"/>
                <a:cs typeface="Arial"/>
              </a:defRPr>
            </a:lvl5pPr>
            <a:lvl6pPr algn="l">
              <a:defRPr sz="975" b="1" i="0">
                <a:solidFill>
                  <a:srgbClr val="F1C84B"/>
                </a:solidFill>
                <a:latin typeface="Arial"/>
                <a:ea typeface="Arial"/>
                <a:cs typeface="Arial"/>
              </a:defRPr>
            </a:lvl6pPr>
            <a:lvl7pPr algn="l">
              <a:defRPr sz="975" b="1" i="0">
                <a:solidFill>
                  <a:srgbClr val="F1C84B"/>
                </a:solidFill>
                <a:latin typeface="Arial"/>
                <a:ea typeface="Arial"/>
                <a:cs typeface="Arial"/>
              </a:defRPr>
            </a:lvl7pPr>
            <a:lvl8pPr algn="l">
              <a:defRPr sz="975" b="1" i="0">
                <a:solidFill>
                  <a:srgbClr val="F1C84B"/>
                </a:solidFill>
                <a:latin typeface="Arial"/>
                <a:ea typeface="Arial"/>
                <a:cs typeface="Arial"/>
              </a:defRPr>
            </a:lvl8pPr>
            <a:lvl9pPr algn="l">
              <a:defRPr sz="975" b="1" i="0">
                <a:solidFill>
                  <a:srgbClr val="F1C84B"/>
                </a:solidFill>
                <a:latin typeface="Arial"/>
                <a:ea typeface="Arial"/>
                <a:cs typeface="Arial"/>
              </a:defRPr>
            </a:lvl9pPr>
          </a:lstStyle>
          <a:p xmlns:a="http://schemas.openxmlformats.org/drawingml/2006/main">
            <a:pPr algn="l">
              <a:defRPr sz="975" b="1" i="0">
                <a:solidFill>
                  <a:srgbClr val="F1C84B"/>
                </a:solidFill>
                <a:latin typeface="Arial"/>
                <a:ea typeface="Arial"/>
                <a:cs typeface="Arial"/>
              </a:defRPr>
            </a:pPr>
            <a:r>
              <a:rPr sz="975" b="1" i="0">
                <a:solidFill>
                  <a:srgbClr val="F1C84B"/>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5612C8BB-B4A4-4CD3-9856-D5BFE6470267}"/>
              </a:ext>
            </a:extLst>
          </p:cNvPr>
          <p:cNvSpPr>
            <a:spLocks xmlns:a="http://schemas.openxmlformats.org/drawingml/2006/main" noGrp="1"/>
          </p:cNvSpPr>
          <p:nvPr/>
        </p:nvSpPr>
        <p:spPr>
          <a:xfrm xmlns:a="http://schemas.openxmlformats.org/drawingml/2006/main">
            <a:off x="9467850" y="173355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xmlns:a="http://schemas.openxmlformats.org/drawingml/2006/main">
            <a:pPr algn="l">
              <a:defRPr sz="1350" b="1" i="0">
                <a:solidFill>
                  <a:srgbClr val="F4F7F5"/>
                </a:solidFill>
                <a:latin typeface="Arial"/>
                <a:ea typeface="Arial"/>
                <a:cs typeface="Arial"/>
              </a:defRPr>
            </a:pPr>
            <a:r>
              <a:rPr sz="1350" b="1" i="0">
                <a:solidFill>
                  <a:srgbClr val="F4F7F5"/>
                </a:solidFill>
                <a:latin typeface="Arial"/>
                <a:ea typeface="Arial"/>
                <a:cs typeface="Arial"/>
              </a:rPr>
              <a:t>Design objective</a:t>
            </a:r>
          </a:p>
        </p:txBody>
      </p:sp>
      <p:sp>
        <p:nvSpPr>
          <p:cNvPr id="22" name="">
            <a:extLst xmlns:a="http://schemas.openxmlformats.org/drawingml/2006/main">
              <a:ext uri="{FF2B5EF4-FFF2-40B4-BE49-F238E27FC236}">
                <a16:creationId xmlns:a16="http://schemas.microsoft.com/office/drawing/2014/main" id="{853A07F3-2EF7-4BC5-9AB6-A6CB9000C0BD}"/>
              </a:ext>
            </a:extLst>
          </p:cNvPr>
          <p:cNvSpPr>
            <a:spLocks xmlns:a="http://schemas.openxmlformats.org/drawingml/2006/main" noGrp="1"/>
          </p:cNvSpPr>
          <p:nvPr/>
        </p:nvSpPr>
        <p:spPr>
          <a:xfrm xmlns:a="http://schemas.openxmlformats.org/drawingml/2006/main">
            <a:off x="9467850" y="2076450"/>
            <a:ext cx="2143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separation, orientation, cleavage, or motion</a:t>
            </a:r>
          </a:p>
        </p:txBody>
      </p:sp>
      <p:sp>
        <p:nvSpPr>
          <p:cNvPr id="23" name="">
            <a:extLst xmlns:a="http://schemas.openxmlformats.org/drawingml/2006/main">
              <a:ext uri="{FF2B5EF4-FFF2-40B4-BE49-F238E27FC236}">
                <a16:creationId xmlns:a16="http://schemas.microsoft.com/office/drawing/2014/main" id="{824EABE3-FEF8-4DD8-AE08-B02C61C9BE00}"/>
              </a:ext>
            </a:extLst>
          </p:cNvPr>
          <p:cNvSpPr>
            <a:spLocks xmlns:a="http://schemas.openxmlformats.org/drawingml/2006/main" noGrp="1"/>
          </p:cNvSpPr>
          <p:nvPr/>
        </p:nvSpPr>
        <p:spPr>
          <a:xfrm xmlns:a="http://schemas.openxmlformats.org/drawingml/2006/main">
            <a:off x="781050" y="2876550"/>
            <a:ext cx="106299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
            <a:extLst xmlns:a="http://schemas.openxmlformats.org/drawingml/2006/main">
              <a:ext uri="{FF2B5EF4-FFF2-40B4-BE49-F238E27FC236}">
                <a16:creationId xmlns:a16="http://schemas.microsoft.com/office/drawing/2014/main" id="{C49351C5-6BFA-41DF-944A-16A3202B2BBC}"/>
              </a:ext>
            </a:extLst>
          </p:cNvPr>
          <p:cNvSpPr>
            <a:spLocks xmlns:a="http://schemas.openxmlformats.org/drawingml/2006/main" noGrp="1"/>
          </p:cNvSpPr>
          <p:nvPr/>
        </p:nvSpPr>
        <p:spPr>
          <a:xfrm xmlns:a="http://schemas.openxmlformats.org/drawingml/2006/main">
            <a:off x="781050" y="3143250"/>
            <a:ext cx="1062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19"/>
          </a:bodyPr>
          <a:lstStyle xmlns:a="http://schemas.openxmlformats.org/drawingml/2006/main">
            <a:defPPr algn="ctr">
              <a:defRPr sz="1050" b="1" i="0">
                <a:solidFill>
                  <a:srgbClr val="3FC6D6"/>
                </a:solidFill>
                <a:latin typeface="Arial"/>
                <a:ea typeface="Arial"/>
                <a:cs typeface="Arial"/>
              </a:defRPr>
            </a:defPPr>
            <a:lvl1pPr algn="ctr">
              <a:defRPr sz="1050" b="1" i="0">
                <a:solidFill>
                  <a:srgbClr val="3FC6D6"/>
                </a:solidFill>
                <a:latin typeface="Arial"/>
                <a:ea typeface="Arial"/>
                <a:cs typeface="Arial"/>
              </a:defRPr>
            </a:lvl1pPr>
            <a:lvl2pPr algn="ctr">
              <a:defRPr sz="1050" b="1" i="0">
                <a:solidFill>
                  <a:srgbClr val="3FC6D6"/>
                </a:solidFill>
                <a:latin typeface="Arial"/>
                <a:ea typeface="Arial"/>
                <a:cs typeface="Arial"/>
              </a:defRPr>
            </a:lvl2pPr>
            <a:lvl3pPr algn="ctr">
              <a:defRPr sz="1050" b="1" i="0">
                <a:solidFill>
                  <a:srgbClr val="3FC6D6"/>
                </a:solidFill>
                <a:latin typeface="Arial"/>
                <a:ea typeface="Arial"/>
                <a:cs typeface="Arial"/>
              </a:defRPr>
            </a:lvl3pPr>
            <a:lvl4pPr algn="ctr">
              <a:defRPr sz="1050" b="1" i="0">
                <a:solidFill>
                  <a:srgbClr val="3FC6D6"/>
                </a:solidFill>
                <a:latin typeface="Arial"/>
                <a:ea typeface="Arial"/>
                <a:cs typeface="Arial"/>
              </a:defRPr>
            </a:lvl4pPr>
            <a:lvl5pPr algn="ctr">
              <a:defRPr sz="1050" b="1" i="0">
                <a:solidFill>
                  <a:srgbClr val="3FC6D6"/>
                </a:solidFill>
                <a:latin typeface="Arial"/>
                <a:ea typeface="Arial"/>
                <a:cs typeface="Arial"/>
              </a:defRPr>
            </a:lvl5pPr>
            <a:lvl6pPr algn="ctr">
              <a:defRPr sz="1050" b="1" i="0">
                <a:solidFill>
                  <a:srgbClr val="3FC6D6"/>
                </a:solidFill>
                <a:latin typeface="Arial"/>
                <a:ea typeface="Arial"/>
                <a:cs typeface="Arial"/>
              </a:defRPr>
            </a:lvl6pPr>
            <a:lvl7pPr algn="ctr">
              <a:defRPr sz="1050" b="1" i="0">
                <a:solidFill>
                  <a:srgbClr val="3FC6D6"/>
                </a:solidFill>
                <a:latin typeface="Arial"/>
                <a:ea typeface="Arial"/>
                <a:cs typeface="Arial"/>
              </a:defRPr>
            </a:lvl7pPr>
            <a:lvl8pPr algn="ctr">
              <a:defRPr sz="1050" b="1" i="0">
                <a:solidFill>
                  <a:srgbClr val="3FC6D6"/>
                </a:solidFill>
                <a:latin typeface="Arial"/>
                <a:ea typeface="Arial"/>
                <a:cs typeface="Arial"/>
              </a:defRPr>
            </a:lvl8pPr>
            <a:lvl9pPr algn="ctr">
              <a:defRPr sz="1050" b="1" i="0">
                <a:solidFill>
                  <a:srgbClr val="3FC6D6"/>
                </a:solidFill>
                <a:latin typeface="Arial"/>
                <a:ea typeface="Arial"/>
                <a:cs typeface="Arial"/>
              </a:defRPr>
            </a:lvl9pPr>
          </a:lstStyle>
          <a:p xmlns:a="http://schemas.openxmlformats.org/drawingml/2006/main">
            <a:pPr algn="ctr">
              <a:defRPr sz="1050" b="1" i="0">
                <a:solidFill>
                  <a:srgbClr val="3FC6D6"/>
                </a:solidFill>
                <a:latin typeface="Arial"/>
                <a:ea typeface="Arial"/>
                <a:cs typeface="Arial"/>
              </a:defRPr>
            </a:pPr>
            <a:r>
              <a:rPr sz="1050" b="1" i="0">
                <a:solidFill>
                  <a:srgbClr val="3FC6D6"/>
                </a:solidFill>
                <a:latin typeface="Arial"/>
                <a:ea typeface="Arial"/>
                <a:cs typeface="Arial"/>
              </a:rPr>
              <a:t>INTERDOMAIN CONFORMATIONAL ENSEMBLE</a:t>
            </a:r>
          </a:p>
        </p:txBody>
      </p:sp>
      <p:sp>
        <p:nvSpPr>
          <p:cNvPr id="25" name="">
            <a:extLst xmlns:a="http://schemas.openxmlformats.org/drawingml/2006/main">
              <a:ext uri="{FF2B5EF4-FFF2-40B4-BE49-F238E27FC236}">
                <a16:creationId xmlns:a16="http://schemas.microsoft.com/office/drawing/2014/main" id="{9898C6CF-B849-498E-BC6A-9EED64A3F37A}"/>
              </a:ext>
            </a:extLst>
          </p:cNvPr>
          <p:cNvSpPr>
            <a:spLocks xmlns:a="http://schemas.openxmlformats.org/drawingml/2006/main" noGrp="1"/>
          </p:cNvSpPr>
          <p:nvPr/>
        </p:nvSpPr>
        <p:spPr>
          <a:xfrm xmlns:a="http://schemas.openxmlformats.org/drawingml/2006/main">
            <a:off x="1619250" y="3524250"/>
            <a:ext cx="895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725" b="1" i="0">
                <a:solidFill>
                  <a:srgbClr val="F4F7F5"/>
                </a:solidFill>
                <a:latin typeface="Arial"/>
                <a:ea typeface="Arial"/>
                <a:cs typeface="Arial"/>
              </a:defRPr>
            </a:defPPr>
            <a:lvl1pPr algn="ctr">
              <a:defRPr sz="1725" b="1" i="0">
                <a:solidFill>
                  <a:srgbClr val="F4F7F5"/>
                </a:solidFill>
                <a:latin typeface="Arial"/>
                <a:ea typeface="Arial"/>
                <a:cs typeface="Arial"/>
              </a:defRPr>
            </a:lvl1pPr>
            <a:lvl2pPr algn="ctr">
              <a:defRPr sz="1725" b="1" i="0">
                <a:solidFill>
                  <a:srgbClr val="F4F7F5"/>
                </a:solidFill>
                <a:latin typeface="Arial"/>
                <a:ea typeface="Arial"/>
                <a:cs typeface="Arial"/>
              </a:defRPr>
            </a:lvl2pPr>
            <a:lvl3pPr algn="ctr">
              <a:defRPr sz="1725" b="1" i="0">
                <a:solidFill>
                  <a:srgbClr val="F4F7F5"/>
                </a:solidFill>
                <a:latin typeface="Arial"/>
                <a:ea typeface="Arial"/>
                <a:cs typeface="Arial"/>
              </a:defRPr>
            </a:lvl3pPr>
            <a:lvl4pPr algn="ctr">
              <a:defRPr sz="1725" b="1" i="0">
                <a:solidFill>
                  <a:srgbClr val="F4F7F5"/>
                </a:solidFill>
                <a:latin typeface="Arial"/>
                <a:ea typeface="Arial"/>
                <a:cs typeface="Arial"/>
              </a:defRPr>
            </a:lvl4pPr>
            <a:lvl5pPr algn="ctr">
              <a:defRPr sz="1725" b="1" i="0">
                <a:solidFill>
                  <a:srgbClr val="F4F7F5"/>
                </a:solidFill>
                <a:latin typeface="Arial"/>
                <a:ea typeface="Arial"/>
                <a:cs typeface="Arial"/>
              </a:defRPr>
            </a:lvl5pPr>
            <a:lvl6pPr algn="ctr">
              <a:defRPr sz="1725" b="1" i="0">
                <a:solidFill>
                  <a:srgbClr val="F4F7F5"/>
                </a:solidFill>
                <a:latin typeface="Arial"/>
                <a:ea typeface="Arial"/>
                <a:cs typeface="Arial"/>
              </a:defRPr>
            </a:lvl6pPr>
            <a:lvl7pPr algn="ctr">
              <a:defRPr sz="1725" b="1" i="0">
                <a:solidFill>
                  <a:srgbClr val="F4F7F5"/>
                </a:solidFill>
                <a:latin typeface="Arial"/>
                <a:ea typeface="Arial"/>
                <a:cs typeface="Arial"/>
              </a:defRPr>
            </a:lvl7pPr>
            <a:lvl8pPr algn="ctr">
              <a:defRPr sz="1725" b="1" i="0">
                <a:solidFill>
                  <a:srgbClr val="F4F7F5"/>
                </a:solidFill>
                <a:latin typeface="Arial"/>
                <a:ea typeface="Arial"/>
                <a:cs typeface="Arial"/>
              </a:defRPr>
            </a:lvl8pPr>
            <a:lvl9pPr algn="ctr">
              <a:defRPr sz="1725" b="1" i="0">
                <a:solidFill>
                  <a:srgbClr val="F4F7F5"/>
                </a:solidFill>
                <a:latin typeface="Arial"/>
                <a:ea typeface="Arial"/>
                <a:cs typeface="Arial"/>
              </a:defRPr>
            </a:lvl9pPr>
          </a:lstStyle>
          <a:p xmlns:a="http://schemas.openxmlformats.org/drawingml/2006/main">
            <a:pPr algn="ctr">
              <a:defRPr sz="1725" b="1" i="0">
                <a:solidFill>
                  <a:srgbClr val="F4F7F5"/>
                </a:solidFill>
                <a:latin typeface="Arial"/>
                <a:ea typeface="Arial"/>
                <a:cs typeface="Arial"/>
              </a:defRPr>
            </a:pPr>
            <a:r>
              <a:rPr sz="1725" b="1" i="0">
                <a:solidFill>
                  <a:srgbClr val="F4F7F5"/>
                </a:solidFill>
                <a:latin typeface="Arial"/>
                <a:ea typeface="Arial"/>
                <a:cs typeface="Arial"/>
              </a:rPr>
              <a:t>The complete fusion can sample multiple relative domain positions. A single confident structure may not represent that distribution in solution.</a:t>
            </a:r>
          </a:p>
        </p:txBody>
      </p:sp>
      <p:sp>
        <p:nvSpPr>
          <p:cNvPr id="26" name="">
            <a:extLst xmlns:a="http://schemas.openxmlformats.org/drawingml/2006/main">
              <a:ext uri="{FF2B5EF4-FFF2-40B4-BE49-F238E27FC236}">
                <a16:creationId xmlns:a16="http://schemas.microsoft.com/office/drawing/2014/main" id="{53797651-BE4C-4A78-A3E9-874AFF578257}"/>
              </a:ext>
            </a:extLst>
          </p:cNvPr>
          <p:cNvSpPr>
            <a:spLocks xmlns:a="http://schemas.openxmlformats.org/drawingml/2006/main" noGrp="1"/>
          </p:cNvSpPr>
          <p:nvPr/>
        </p:nvSpPr>
        <p:spPr>
          <a:xfrm xmlns:a="http://schemas.openxmlformats.org/drawingml/2006/main">
            <a:off x="6096000" y="4419600"/>
            <a:ext cx="0" cy="110490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7" name="">
            <a:extLst xmlns:a="http://schemas.openxmlformats.org/drawingml/2006/main">
              <a:ext uri="{FF2B5EF4-FFF2-40B4-BE49-F238E27FC236}">
                <a16:creationId xmlns:a16="http://schemas.microsoft.com/office/drawing/2014/main" id="{26252FFE-EF28-4FC5-822C-0860849B623A}"/>
              </a:ext>
            </a:extLst>
          </p:cNvPr>
          <p:cNvSpPr>
            <a:spLocks xmlns:a="http://schemas.openxmlformats.org/drawingml/2006/main" noGrp="1"/>
          </p:cNvSpPr>
          <p:nvPr/>
        </p:nvSpPr>
        <p:spPr>
          <a:xfrm xmlns:a="http://schemas.openxmlformats.org/drawingml/2006/main">
            <a:off x="781050" y="44958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l">
              <a:defRPr sz="975" b="1" i="0">
                <a:solidFill>
                  <a:srgbClr val="4E9BEC"/>
                </a:solidFill>
                <a:latin typeface="Arial"/>
                <a:ea typeface="Arial"/>
                <a:cs typeface="Arial"/>
              </a:defRPr>
            </a:defPPr>
            <a:lvl1pPr algn="l">
              <a:defRPr sz="975" b="1" i="0">
                <a:solidFill>
                  <a:srgbClr val="4E9BEC"/>
                </a:solidFill>
                <a:latin typeface="Arial"/>
                <a:ea typeface="Arial"/>
                <a:cs typeface="Arial"/>
              </a:defRPr>
            </a:lvl1pPr>
            <a:lvl2pPr algn="l">
              <a:defRPr sz="975" b="1" i="0">
                <a:solidFill>
                  <a:srgbClr val="4E9BEC"/>
                </a:solidFill>
                <a:latin typeface="Arial"/>
                <a:ea typeface="Arial"/>
                <a:cs typeface="Arial"/>
              </a:defRPr>
            </a:lvl2pPr>
            <a:lvl3pPr algn="l">
              <a:defRPr sz="975" b="1" i="0">
                <a:solidFill>
                  <a:srgbClr val="4E9BEC"/>
                </a:solidFill>
                <a:latin typeface="Arial"/>
                <a:ea typeface="Arial"/>
                <a:cs typeface="Arial"/>
              </a:defRPr>
            </a:lvl3pPr>
            <a:lvl4pPr algn="l">
              <a:defRPr sz="975" b="1" i="0">
                <a:solidFill>
                  <a:srgbClr val="4E9BEC"/>
                </a:solidFill>
                <a:latin typeface="Arial"/>
                <a:ea typeface="Arial"/>
                <a:cs typeface="Arial"/>
              </a:defRPr>
            </a:lvl4pPr>
            <a:lvl5pPr algn="l">
              <a:defRPr sz="975" b="1" i="0">
                <a:solidFill>
                  <a:srgbClr val="4E9BEC"/>
                </a:solidFill>
                <a:latin typeface="Arial"/>
                <a:ea typeface="Arial"/>
                <a:cs typeface="Arial"/>
              </a:defRPr>
            </a:lvl5pPr>
            <a:lvl6pPr algn="l">
              <a:defRPr sz="975" b="1" i="0">
                <a:solidFill>
                  <a:srgbClr val="4E9BEC"/>
                </a:solidFill>
                <a:latin typeface="Arial"/>
                <a:ea typeface="Arial"/>
                <a:cs typeface="Arial"/>
              </a:defRPr>
            </a:lvl6pPr>
            <a:lvl7pPr algn="l">
              <a:defRPr sz="975" b="1" i="0">
                <a:solidFill>
                  <a:srgbClr val="4E9BEC"/>
                </a:solidFill>
                <a:latin typeface="Arial"/>
                <a:ea typeface="Arial"/>
                <a:cs typeface="Arial"/>
              </a:defRPr>
            </a:lvl7pPr>
            <a:lvl8pPr algn="l">
              <a:defRPr sz="975" b="1" i="0">
                <a:solidFill>
                  <a:srgbClr val="4E9BEC"/>
                </a:solidFill>
                <a:latin typeface="Arial"/>
                <a:ea typeface="Arial"/>
                <a:cs typeface="Arial"/>
              </a:defRPr>
            </a:lvl8pPr>
            <a:lvl9pPr algn="l">
              <a:defRPr sz="975" b="1" i="0">
                <a:solidFill>
                  <a:srgbClr val="4E9BEC"/>
                </a:solidFill>
                <a:latin typeface="Arial"/>
                <a:ea typeface="Arial"/>
                <a:cs typeface="Arial"/>
              </a:defRPr>
            </a:lvl9pPr>
          </a:lstStyle>
          <a:p xmlns:a="http://schemas.openxmlformats.org/drawingml/2006/main">
            <a:pPr algn="l">
              <a:defRPr sz="975" b="1" i="0">
                <a:solidFill>
                  <a:srgbClr val="4E9BEC"/>
                </a:solidFill>
                <a:latin typeface="Arial"/>
                <a:ea typeface="Arial"/>
                <a:cs typeface="Arial"/>
              </a:defRPr>
            </a:pPr>
            <a:r>
              <a:rPr sz="975" b="1" i="0">
                <a:solidFill>
                  <a:srgbClr val="4E9BEC"/>
                </a:solidFill>
                <a:latin typeface="Arial"/>
                <a:ea typeface="Arial"/>
                <a:cs typeface="Arial"/>
              </a:rPr>
              <a:t>COMPUTATIONAL EVIDENCE</a:t>
            </a:r>
          </a:p>
        </p:txBody>
      </p:sp>
      <p:sp>
        <p:nvSpPr>
          <p:cNvPr id="28" name="">
            <a:extLst xmlns:a="http://schemas.openxmlformats.org/drawingml/2006/main">
              <a:ext uri="{FF2B5EF4-FFF2-40B4-BE49-F238E27FC236}">
                <a16:creationId xmlns:a16="http://schemas.microsoft.com/office/drawing/2014/main" id="{417EB493-CBD8-4484-A92E-14D6D9CF95C7}"/>
              </a:ext>
            </a:extLst>
          </p:cNvPr>
          <p:cNvSpPr>
            <a:spLocks xmlns:a="http://schemas.openxmlformats.org/drawingml/2006/main" noGrp="1"/>
          </p:cNvSpPr>
          <p:nvPr/>
        </p:nvSpPr>
        <p:spPr>
          <a:xfrm xmlns:a="http://schemas.openxmlformats.org/drawingml/2006/main">
            <a:off x="781050" y="485775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Structure confidence, PAE, steric clashes, and preservation of each domain</a:t>
            </a:r>
          </a:p>
        </p:txBody>
      </p:sp>
      <p:sp>
        <p:nvSpPr>
          <p:cNvPr id="29" name="">
            <a:extLst xmlns:a="http://schemas.openxmlformats.org/drawingml/2006/main">
              <a:ext uri="{FF2B5EF4-FFF2-40B4-BE49-F238E27FC236}">
                <a16:creationId xmlns:a16="http://schemas.microsoft.com/office/drawing/2014/main" id="{FDEB71BB-8713-4C08-B008-7BC0B0DAADA8}"/>
              </a:ext>
            </a:extLst>
          </p:cNvPr>
          <p:cNvSpPr>
            <a:spLocks xmlns:a="http://schemas.openxmlformats.org/drawingml/2006/main" noGrp="1"/>
          </p:cNvSpPr>
          <p:nvPr/>
        </p:nvSpPr>
        <p:spPr>
          <a:xfrm xmlns:a="http://schemas.openxmlformats.org/drawingml/2006/main">
            <a:off x="6648450" y="44958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EXPERIMENTAL EVIDENCE</a:t>
            </a:r>
          </a:p>
        </p:txBody>
      </p:sp>
      <p:sp>
        <p:nvSpPr>
          <p:cNvPr id="30" name="">
            <a:extLst xmlns:a="http://schemas.openxmlformats.org/drawingml/2006/main">
              <a:ext uri="{FF2B5EF4-FFF2-40B4-BE49-F238E27FC236}">
                <a16:creationId xmlns:a16="http://schemas.microsoft.com/office/drawing/2014/main" id="{4547044D-B4C8-444F-8AE3-6B13B5D587BB}"/>
              </a:ext>
            </a:extLst>
          </p:cNvPr>
          <p:cNvSpPr>
            <a:spLocks xmlns:a="http://schemas.openxmlformats.org/drawingml/2006/main" noGrp="1"/>
          </p:cNvSpPr>
          <p:nvPr/>
        </p:nvSpPr>
        <p:spPr>
          <a:xfrm xmlns:a="http://schemas.openxmlformats.org/drawingml/2006/main">
            <a:off x="6648450" y="485775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xmlns:a="http://schemas.openxmlformats.org/drawingml/2006/main">
            <a:pPr algn="l">
              <a:defRPr sz="1425" b="1" i="0">
                <a:solidFill>
                  <a:srgbClr val="F4F7F5"/>
                </a:solidFill>
                <a:latin typeface="Arial"/>
                <a:ea typeface="Arial"/>
                <a:cs typeface="Arial"/>
              </a:defRPr>
            </a:pPr>
            <a:r>
              <a:rPr sz="1425" b="1" i="0">
                <a:solidFill>
                  <a:srgbClr val="F4F7F5"/>
                </a:solidFill>
                <a:latin typeface="Arial"/>
                <a:ea typeface="Arial"/>
                <a:cs typeface="Arial"/>
              </a:rPr>
              <a:t>Expression, stability, activity, and solution-state measurements such as SAXS or NMR</a:t>
            </a:r>
          </a:p>
        </p:txBody>
      </p:sp>
      <p:sp>
        <p:nvSpPr>
          <p:cNvPr id="31" name="">
            <a:extLst xmlns:a="http://schemas.openxmlformats.org/drawingml/2006/main">
              <a:ext uri="{FF2B5EF4-FFF2-40B4-BE49-F238E27FC236}">
                <a16:creationId xmlns:a16="http://schemas.microsoft.com/office/drawing/2014/main" id="{44038CBC-CDBC-464E-B3B2-5A365C452C5C}"/>
              </a:ext>
            </a:extLst>
          </p:cNvPr>
          <p:cNvSpPr>
            <a:spLocks xmlns:a="http://schemas.openxmlformats.org/drawingml/2006/main" noGrp="1"/>
          </p:cNvSpPr>
          <p:nvPr/>
        </p:nvSpPr>
        <p:spPr>
          <a:xfrm xmlns:a="http://schemas.openxmlformats.org/drawingml/2006/main">
            <a:off x="781050" y="5772150"/>
            <a:ext cx="106299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32" name="">
            <a:extLst xmlns:a="http://schemas.openxmlformats.org/drawingml/2006/main">
              <a:ext uri="{FF2B5EF4-FFF2-40B4-BE49-F238E27FC236}">
                <a16:creationId xmlns:a16="http://schemas.microsoft.com/office/drawing/2014/main" id="{67E73676-F05A-438E-A24F-0E8020CA3C50}"/>
              </a:ext>
            </a:extLst>
          </p:cNvPr>
          <p:cNvSpPr>
            <a:spLocks xmlns:a="http://schemas.openxmlformats.org/drawingml/2006/main" noGrp="1"/>
          </p:cNvSpPr>
          <p:nvPr/>
        </p:nvSpPr>
        <p:spPr>
          <a:xfrm xmlns:a="http://schemas.openxmlformats.org/drawingml/2006/main">
            <a:off x="781050" y="59436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LINKERFORGE RESEARCH QUESTION</a:t>
            </a:r>
          </a:p>
        </p:txBody>
      </p:sp>
      <p:sp>
        <p:nvSpPr>
          <p:cNvPr id="33" name="">
            <a:extLst xmlns:a="http://schemas.openxmlformats.org/drawingml/2006/main">
              <a:ext uri="{FF2B5EF4-FFF2-40B4-BE49-F238E27FC236}">
                <a16:creationId xmlns:a16="http://schemas.microsoft.com/office/drawing/2014/main" id="{0987930E-4D27-4706-B8D8-19CAF84C842F}"/>
              </a:ext>
            </a:extLst>
          </p:cNvPr>
          <p:cNvSpPr>
            <a:spLocks xmlns:a="http://schemas.openxmlformats.org/drawingml/2006/main" noGrp="1"/>
          </p:cNvSpPr>
          <p:nvPr/>
        </p:nvSpPr>
        <p:spPr>
          <a:xfrm xmlns:a="http://schemas.openxmlformats.org/drawingml/2006/main">
            <a:off x="3476625" y="5857875"/>
            <a:ext cx="790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575"/>
          </a:bodyPr>
          <a:lstStyle xmlns:a="http://schemas.openxmlformats.org/drawingml/2006/main">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xmlns:a="http://schemas.openxmlformats.org/drawingml/2006/main">
            <a:pPr algn="l">
              <a:defRPr sz="1350" b="1" i="0">
                <a:solidFill>
                  <a:srgbClr val="F4F7F5"/>
                </a:solidFill>
                <a:latin typeface="Arial"/>
                <a:ea typeface="Arial"/>
                <a:cs typeface="Arial"/>
              </a:defRPr>
            </a:pPr>
            <a:r>
              <a:rPr sz="1350" b="1" i="0">
                <a:solidFill>
                  <a:srgbClr val="F4F7F5"/>
                </a:solidFill>
                <a:latin typeface="Arial"/>
                <a:ea typeface="Arial"/>
                <a:cs typeface="Arial"/>
              </a:rPr>
              <a:t>Can a pair-conditioned model rank candidates that retain structural plausibility on previously unseen protein families?</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BEF3DC8-0339-4F82-9AD2-0F07E2A40FC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DD465C-AD06-4E85-81C5-4CB01477103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3EA2E22-B114-452F-8502-129422374336}"/>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METHOD LANDSCAPE</a:t>
            </a:r>
          </a:p>
        </p:txBody>
      </p:sp>
      <p:sp>
        <p:nvSpPr>
          <p:cNvPr id="4" name="">
            <a:extLst xmlns:a="http://schemas.openxmlformats.org/drawingml/2006/main">
              <a:ext uri="{FF2B5EF4-FFF2-40B4-BE49-F238E27FC236}">
                <a16:creationId xmlns:a16="http://schemas.microsoft.com/office/drawing/2014/main" id="{071D2E45-731A-4BE6-AEF7-3AA72A72E79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DFLpred (2016), TransDFL (2023), and Li et al. (2026)</a:t>
            </a:r>
          </a:p>
        </p:txBody>
      </p:sp>
      <p:sp>
        <p:nvSpPr>
          <p:cNvPr id="5" name="">
            <a:extLst xmlns:a="http://schemas.openxmlformats.org/drawingml/2006/main">
              <a:ext uri="{FF2B5EF4-FFF2-40B4-BE49-F238E27FC236}">
                <a16:creationId xmlns:a16="http://schemas.microsoft.com/office/drawing/2014/main" id="{9C0FAD0E-D6DA-4958-A328-9C69EA545468}"/>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
            <a:extLst xmlns:a="http://schemas.openxmlformats.org/drawingml/2006/main">
              <a:ext uri="{FF2B5EF4-FFF2-40B4-BE49-F238E27FC236}">
                <a16:creationId xmlns:a16="http://schemas.microsoft.com/office/drawing/2014/main" id="{818D023C-8B44-4619-84E8-33615FDF499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Published methods address different linker tasks</a:t>
            </a:r>
          </a:p>
        </p:txBody>
      </p:sp>
      <p:sp>
        <p:nvSpPr>
          <p:cNvPr id="7" name="">
            <a:extLst xmlns:a="http://schemas.openxmlformats.org/drawingml/2006/main">
              <a:ext uri="{FF2B5EF4-FFF2-40B4-BE49-F238E27FC236}">
                <a16:creationId xmlns:a16="http://schemas.microsoft.com/office/drawing/2014/main" id="{34AD2E53-48BE-4175-953A-39F571A303A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Generators, residue classifiers, system-specific predictors, and structure models answer different scientific questions</a:t>
            </a:r>
          </a:p>
        </p:txBody>
      </p:sp>
      <p:graphicFrame>
        <p:nvGraphicFramePr>
          <p:cNvPr id="8" name="">
            <a:extLst xmlns:a="http://schemas.openxmlformats.org/drawingml/2006/main">
              <a:ext uri="{FF2B5EF4-FFF2-40B4-BE49-F238E27FC236}">
                <a16:creationId xmlns:a16="http://schemas.microsoft.com/office/drawing/2014/main" id="{1926C032-3DDD-4FF5-98E4-4AC11EC9899D}"/>
              </a:ext>
            </a:extLst>
          </p:cNvPr>
          <p:cNvGraphicFramePr/>
          <p:nvPr/>
        </p:nvGraphicFramePr>
        <p:xfrm>
          <a:off xmlns:a="http://schemas.openxmlformats.org/drawingml/2006/main" x="514350" y="1581150"/>
          <a:ext xmlns:a="http://schemas.openxmlformats.org/drawingml/2006/main" cx="11163300" cy="3695700"/>
        </p:xfrm>
        <a:graphic xmlns:a="http://schemas.openxmlformats.org/drawingml/2006/main">
          <a:graphicData uri="http://schemas.openxmlformats.org/drawingml/2006/table">
            <a:tbl>
              <a:tblPr/>
              <a:tblGrid>
                <a:gridCol w="1428750"/>
                <a:gridCol w="2133600"/>
                <a:gridCol w="3619500"/>
                <a:gridCol w="3981450"/>
              </a:tblGrid>
              <a:tr h="615950">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Method type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predicts or provides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Scientific boundary</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5950">
                <a:tc>
                  <a:txBody>
                    <a:bodyPr/>
                    <a:lstStyle/>
                    <a:p>
                      <a:r>
                        <a:rPr sz="863">
                          <a:solidFill>
                            <a:srgbClr val="F4F7F5"/>
                          </a:solidFill>
                          <a:latin typeface="Arial"/>
                          <a:ea typeface="Arial"/>
                          <a:cs typeface="Arial"/>
                        </a:rPr>
                        <a:t>LINKER</a:t>
                      </a:r>
                    </a:p>
                    <a:p>
                      <a:r>
                        <a:rPr sz="863">
                          <a:solidFill>
                            <a:srgbClr val="F4F7F5"/>
                          </a:solidFill>
                          <a:latin typeface="Arial"/>
                          <a:ea typeface="Arial"/>
                          <a:cs typeface="Arial"/>
                        </a:rPr>
                        <a:t>2000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Library-based generator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Retrieves PDB loop-derived sequences for a requested linker length</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Does not classify residues or score a specified domain pair</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SynLinker</a:t>
                      </a:r>
                    </a:p>
                    <a:p>
                      <a:r>
                        <a:rPr sz="863">
                          <a:solidFill>
                            <a:srgbClr val="F4F7F5"/>
                          </a:solidFill>
                          <a:latin typeface="Arial"/>
                          <a:ea typeface="Arial"/>
                          <a:cs typeface="Arial"/>
                        </a:rPr>
                        <a:t>2015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Database + retrieval/design system</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Searches 2,260 linkers and supports fusion construction and modelling</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Does not learn a general DFL classifier</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DFLpred</a:t>
                      </a:r>
                    </a:p>
                    <a:p>
                      <a:r>
                        <a:rPr sz="863">
                          <a:solidFill>
                            <a:srgbClr val="F4F7F5"/>
                          </a:solidFill>
                          <a:latin typeface="Arial"/>
                          <a:ea typeface="Arial"/>
                          <a:cs typeface="Arial"/>
                        </a:rPr>
                        <a:t>2016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Per-residue classifier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DFL propensity and a DFL versus non-DFL label for each residue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Detects linker residues; it does not generate or rank fusion linkers</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TransDFL</a:t>
                      </a:r>
                    </a:p>
                    <a:p>
                      <a:r>
                        <a:rPr sz="863">
                          <a:solidFill>
                            <a:srgbClr val="F4F7F5"/>
                          </a:solidFill>
                          <a:latin typeface="Arial"/>
                          <a:ea typeface="Arial"/>
                          <a:cs typeface="Arial"/>
                        </a:rPr>
                        <a:t>2023</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Transfer-learning per-residue classifier</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DFL versus non-DFL identification across a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Detects natural DFLs; it does not score candidate fusions</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Li et al.</a:t>
                      </a:r>
                    </a:p>
                    <a:p>
                      <a:r>
                        <a:rPr sz="863">
                          <a:solidFill>
                            <a:srgbClr val="F4F7F5"/>
                          </a:solidFill>
                          <a:latin typeface="Arial"/>
                          <a:ea typeface="Arial"/>
                          <a:cs typeface="Arial"/>
                        </a:rPr>
                        <a:t>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Fusion-specific supervised predictor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Quantitative activity and high/low activity for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Not a general DFL detector or universal linker generator</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89D07B50-5707-4423-9CEF-0F1DDB28E46B}"/>
              </a:ext>
            </a:extLst>
          </p:cNvPr>
          <p:cNvSpPr>
            <a:spLocks xmlns:a="http://schemas.openxmlformats.org/drawingml/2006/main" noGrp="1"/>
          </p:cNvSpPr>
          <p:nvPr/>
        </p:nvSpPr>
        <p:spPr>
          <a:xfrm xmlns:a="http://schemas.openxmlformats.org/drawingml/2006/main">
            <a:off x="514350" y="5467350"/>
            <a:ext cx="11163300" cy="742950"/>
          </a:xfrm>
          <a:prstGeom xmlns:a="http://schemas.openxmlformats.org/drawingml/2006/main" prst="roundRect">
            <a:avLst>
              <a:gd name="adj" fmla="val 10256"/>
            </a:avLst>
          </a:prstGeom>
          <a:solidFill xmlns:a="http://schemas.openxmlformats.org/drawingml/2006/main">
            <a:srgbClr val="143128"/>
          </a:solidFill>
          <a:ln xmlns:a="http://schemas.openxmlformats.org/drawingml/2006/main" w="9525">
            <a:solidFill>
              <a:srgbClr val="167D89"/>
            </a:solidFill>
            <a:prstDash val="solid"/>
          </a:ln>
        </p:spPr>
      </p:sp>
      <p:sp>
        <p:nvSpPr>
          <p:cNvPr id="10" name="">
            <a:extLst xmlns:a="http://schemas.openxmlformats.org/drawingml/2006/main">
              <a:ext uri="{FF2B5EF4-FFF2-40B4-BE49-F238E27FC236}">
                <a16:creationId xmlns:a16="http://schemas.microsoft.com/office/drawing/2014/main" id="{193E9C9B-B0C4-42CE-B34F-2D00F7C9CB7A}"/>
              </a:ext>
            </a:extLst>
          </p:cNvPr>
          <p:cNvSpPr>
            <a:spLocks xmlns:a="http://schemas.openxmlformats.org/drawingml/2006/main" noGrp="1"/>
          </p:cNvSpPr>
          <p:nvPr/>
        </p:nvSpPr>
        <p:spPr>
          <a:xfrm xmlns:a="http://schemas.openxmlformats.org/drawingml/2006/main">
            <a:off x="742950" y="5629275"/>
            <a:ext cx="2428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LINKERFORGE'S DISTINCT TASK</a:t>
            </a:r>
          </a:p>
        </p:txBody>
      </p:sp>
      <p:sp>
        <p:nvSpPr>
          <p:cNvPr id="11" name="">
            <a:extLst xmlns:a="http://schemas.openxmlformats.org/drawingml/2006/main">
              <a:ext uri="{FF2B5EF4-FFF2-40B4-BE49-F238E27FC236}">
                <a16:creationId xmlns:a16="http://schemas.microsoft.com/office/drawing/2014/main" id="{5702B16F-3EFF-4627-B14C-36852BC1F414}"/>
              </a:ext>
            </a:extLst>
          </p:cNvPr>
          <p:cNvSpPr>
            <a:spLocks xmlns:a="http://schemas.openxmlformats.org/drawingml/2006/main" noGrp="1"/>
          </p:cNvSpPr>
          <p:nvPr/>
        </p:nvSpPr>
        <p:spPr>
          <a:xfrm xmlns:a="http://schemas.openxmlformats.org/drawingml/2006/main">
            <a:off x="3190875" y="55721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Rank candidate linker sequences for a specified pair of fusion partners, then attach matched structural evidence. This is not equivalent to detecting natural linker residues.</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8C5EF2-D822-4F37-A984-C4A5BEBFA67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9A29A6-269F-4C9F-8150-1916A75F548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050E541-4DD9-402E-80A9-C92D3D5FF33D}"/>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
            <a:extLst xmlns:a="http://schemas.openxmlformats.org/drawingml/2006/main">
              <a:ext uri="{FF2B5EF4-FFF2-40B4-BE49-F238E27FC236}">
                <a16:creationId xmlns:a16="http://schemas.microsoft.com/office/drawing/2014/main" id="{45FA63DA-DE38-4460-A478-ED5F480DFD74}"/>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Li et al. (2026), and the CASP16 flexible-domain ensemble assessment</a:t>
            </a:r>
          </a:p>
        </p:txBody>
      </p:sp>
      <p:sp>
        <p:nvSpPr>
          <p:cNvPr id="5" name="">
            <a:extLst xmlns:a="http://schemas.openxmlformats.org/drawingml/2006/main">
              <a:ext uri="{FF2B5EF4-FFF2-40B4-BE49-F238E27FC236}">
                <a16:creationId xmlns:a16="http://schemas.microsoft.com/office/drawing/2014/main" id="{E092304D-96C3-488B-9993-260E3E7221B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
            <a:extLst xmlns:a="http://schemas.openxmlformats.org/drawingml/2006/main">
              <a:ext uri="{FF2B5EF4-FFF2-40B4-BE49-F238E27FC236}">
                <a16:creationId xmlns:a16="http://schemas.microsoft.com/office/drawing/2014/main" id="{88D009A4-D3F7-4EA0-8D1D-E9EF4E3058C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Evidence from published linker studies</a:t>
            </a:r>
          </a:p>
        </p:txBody>
      </p:sp>
      <p:sp>
        <p:nvSpPr>
          <p:cNvPr id="7" name="">
            <a:extLst xmlns:a="http://schemas.openxmlformats.org/drawingml/2006/main">
              <a:ext uri="{FF2B5EF4-FFF2-40B4-BE49-F238E27FC236}">
                <a16:creationId xmlns:a16="http://schemas.microsoft.com/office/drawing/2014/main" id="{3E117E2B-3E4D-4708-9DAA-017B400897F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strength and meaning of each result depend on the task, dataset, and measurement used</a:t>
            </a:r>
          </a:p>
        </p:txBody>
      </p:sp>
      <p:graphicFrame>
        <p:nvGraphicFramePr>
          <p:cNvPr id="8" name="">
            <a:extLst xmlns:a="http://schemas.openxmlformats.org/drawingml/2006/main">
              <a:ext uri="{FF2B5EF4-FFF2-40B4-BE49-F238E27FC236}">
                <a16:creationId xmlns:a16="http://schemas.microsoft.com/office/drawing/2014/main" id="{6D55F8D3-85C4-4C6A-9165-FEA69DF7276B}"/>
              </a:ext>
            </a:extLst>
          </p:cNvPr>
          <p:cNvGraphicFramePr/>
          <p:nvPr/>
        </p:nvGraphicFramePr>
        <p:xfrm>
          <a:off xmlns:a="http://schemas.openxmlformats.org/drawingml/2006/main" x="514350" y="1581150"/>
          <a:ext xmlns:a="http://schemas.openxmlformats.org/drawingml/2006/main" cx="11163300" cy="3810000"/>
        </p:xfrm>
        <a:graphic xmlns:a="http://schemas.openxmlformats.org/drawingml/2006/main">
          <a:graphicData uri="http://schemas.openxmlformats.org/drawingml/2006/table">
            <a:tbl>
              <a:tblPr/>
              <a:tblGrid>
                <a:gridCol w="2381250"/>
                <a:gridCol w="4953000"/>
                <a:gridCol w="3829050"/>
              </a:tblGrid>
              <a:tr h="762000">
                <a:tc>
                  <a:txBody>
                    <a:bodyPr/>
                    <a:lstStyle/>
                    <a:p>
                      <a:r>
                        <a:rPr sz="900" b="1">
                          <a:solidFill>
                            <a:srgbClr val="FFFFFF"/>
                          </a:solidFill>
                          <a:latin typeface="Arial"/>
                          <a:ea typeface="Arial"/>
                          <a:cs typeface="Arial"/>
                        </a:rPr>
                        <a:t>Study</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Published finding</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establishes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762000">
                <a:tc>
                  <a:txBody>
                    <a:bodyPr/>
                    <a:lstStyle/>
                    <a:p>
                      <a:r>
                        <a:rPr sz="938">
                          <a:solidFill>
                            <a:srgbClr val="F4F7F5"/>
                          </a:solidFill>
                          <a:latin typeface="Arial"/>
                          <a:ea typeface="Arial"/>
                          <a:cs typeface="Arial"/>
                        </a:rPr>
                        <a:t>2000 · 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“Linker sequences are generally selected based on intuition.”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The generator addressed heuristic sequence selection</a:t>
                      </a:r>
                    </a:p>
                  </a:txBody>
                  <a:tcPr marL="91440" marR="91440" marT="45720" marB="45720">
                    <a:lnR w="9525">
                      <a:solidFill>
                        <a:srgbClr val="29433A"/>
                      </a:solidFill>
                      <a:prstDash val="solid"/>
                    </a:lnR>
                    <a:lnB w="9525">
                      <a:solidFill>
                        <a:srgbClr val="29433A"/>
                      </a:solidFill>
                      <a:prstDash val="solid"/>
                    </a:lnB>
                    <a:solidFill>
                      <a:srgbClr val="102720"/>
                    </a:solidFill>
                  </a:tcPr>
                </a:tc>
              </a:tr>
              <a:tr h="762000">
                <a:tc>
                  <a:txBody>
                    <a:bodyPr/>
                    <a:lstStyle/>
                    <a:p>
                      <a:r>
                        <a:rPr sz="938">
                          <a:solidFill>
                            <a:srgbClr val="F4F7F5"/>
                          </a:solidFill>
                          <a:latin typeface="Arial"/>
                          <a:ea typeface="Arial"/>
                          <a:cs typeface="Arial"/>
                        </a:rPr>
                        <a:t>2015 · SynLinker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“The linker selection is done mostly ad hoc and still based on random test in experiments.”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The resource organized linker retrieval and fusion construction</a:t>
                      </a:r>
                    </a:p>
                  </a:txBody>
                  <a:tcPr marL="91440" marR="91440" marT="45720" marB="45720">
                    <a:lnR w="9525">
                      <a:solidFill>
                        <a:srgbClr val="29433A"/>
                      </a:solidFill>
                      <a:prstDash val="solid"/>
                    </a:lnR>
                    <a:lnB w="9525">
                      <a:solidFill>
                        <a:srgbClr val="29433A"/>
                      </a:solidFill>
                      <a:prstDash val="solid"/>
                    </a:lnB>
                    <a:solidFill>
                      <a:srgbClr val="143128"/>
                    </a:solidFill>
                  </a:tcPr>
                </a:tc>
              </a:tr>
              <a:tr h="762000">
                <a:tc>
                  <a:txBody>
                    <a:bodyPr/>
                    <a:lstStyle/>
                    <a:p>
                      <a:r>
                        <a:rPr sz="938">
                          <a:solidFill>
                            <a:srgbClr val="F4F7F5"/>
                          </a:solidFill>
                          <a:latin typeface="Arial"/>
                          <a:ea typeface="Arial"/>
                          <a:cs typeface="Arial"/>
                        </a:rPr>
                        <a:t>2026 · Li et al.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Linker performance was context dependent in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Measured fluorescence provides strong system-specific experimental evidence</a:t>
                      </a:r>
                    </a:p>
                  </a:txBody>
                  <a:tcPr marL="91440" marR="91440" marT="45720" marB="45720">
                    <a:lnR w="9525">
                      <a:solidFill>
                        <a:srgbClr val="29433A"/>
                      </a:solidFill>
                      <a:prstDash val="solid"/>
                    </a:lnR>
                    <a:lnB w="9525">
                      <a:solidFill>
                        <a:srgbClr val="29433A"/>
                      </a:solidFill>
                      <a:prstDash val="solid"/>
                    </a:lnB>
                    <a:solidFill>
                      <a:srgbClr val="102720"/>
                    </a:solidFill>
                  </a:tcPr>
                </a:tc>
              </a:tr>
              <a:tr h="762000">
                <a:tc>
                  <a:txBody>
                    <a:bodyPr/>
                    <a:lstStyle/>
                    <a:p>
                      <a:r>
                        <a:rPr sz="938">
                          <a:solidFill>
                            <a:srgbClr val="F4F7F5"/>
                          </a:solidFill>
                          <a:latin typeface="Arial"/>
                          <a:ea typeface="Arial"/>
                          <a:cs typeface="Arial"/>
                        </a:rPr>
                        <a:t>2026 · CASP16 ensemble assessment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“None were close fits to the combined NMR and SAXS data.”</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No submitted ensemble reproduced both distance and orientation evidence. This does not imply that each domain misfolded</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5F120D5-7F86-46FA-91BD-5B66DF95FE8D}"/>
              </a:ext>
            </a:extLst>
          </p:cNvPr>
          <p:cNvSpPr>
            <a:spLocks xmlns:a="http://schemas.openxmlformats.org/drawingml/2006/main" noGrp="1"/>
          </p:cNvSpPr>
          <p:nvPr/>
        </p:nvSpPr>
        <p:spPr>
          <a:xfrm xmlns:a="http://schemas.openxmlformats.org/drawingml/2006/main">
            <a:off x="628650" y="5619750"/>
            <a:ext cx="109347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10" name="">
            <a:extLst xmlns:a="http://schemas.openxmlformats.org/drawingml/2006/main">
              <a:ext uri="{FF2B5EF4-FFF2-40B4-BE49-F238E27FC236}">
                <a16:creationId xmlns:a16="http://schemas.microsoft.com/office/drawing/2014/main" id="{941CE933-94E6-4A5A-9017-E1B7BBBBE1AF}"/>
              </a:ext>
            </a:extLst>
          </p:cNvPr>
          <p:cNvSpPr>
            <a:spLocks xmlns:a="http://schemas.openxmlformats.org/drawingml/2006/main" noGrp="1"/>
          </p:cNvSpPr>
          <p:nvPr/>
        </p:nvSpPr>
        <p:spPr>
          <a:xfrm xmlns:a="http://schemas.openxmlformats.org/drawingml/2006/main">
            <a:off x="733425" y="57721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RESEARCH GAP</a:t>
            </a:r>
          </a:p>
        </p:txBody>
      </p:sp>
      <p:sp>
        <p:nvSpPr>
          <p:cNvPr id="11" name="">
            <a:extLst xmlns:a="http://schemas.openxmlformats.org/drawingml/2006/main">
              <a:ext uri="{FF2B5EF4-FFF2-40B4-BE49-F238E27FC236}">
                <a16:creationId xmlns:a16="http://schemas.microsoft.com/office/drawing/2014/main" id="{6F0633D1-CAFA-4F70-A45C-58C75FCB18FD}"/>
              </a:ext>
            </a:extLst>
          </p:cNvPr>
          <p:cNvSpPr>
            <a:spLocks xmlns:a="http://schemas.openxmlformats.org/drawingml/2006/main" noGrp="1"/>
          </p:cNvSpPr>
          <p:nvPr/>
        </p:nvSpPr>
        <p:spPr>
          <a:xfrm xmlns:a="http://schemas.openxmlformats.org/drawingml/2006/main">
            <a:off x="2181225" y="5705475"/>
            <a:ext cx="925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Choosing a sequence and predicting one static structure cannot establish the solution ensemble or biological outcome. Pair-specific measurements and ensemble-sensitive validation remain necessary.</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920EB7-C0D4-4F52-875A-A6E4EFD61B2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7C7756-B99E-4EB7-A8C7-77E06338758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2AE52A9-F29A-4B79-A56F-1D447E50F6F3}"/>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CASP16 EVIDENCE CONTEXT</a:t>
            </a:r>
          </a:p>
        </p:txBody>
      </p:sp>
      <p:sp>
        <p:nvSpPr>
          <p:cNvPr id="4" name="">
            <a:extLst xmlns:a="http://schemas.openxmlformats.org/drawingml/2006/main">
              <a:ext uri="{FF2B5EF4-FFF2-40B4-BE49-F238E27FC236}">
                <a16:creationId xmlns:a16="http://schemas.microsoft.com/office/drawing/2014/main" id="{62ADDE7F-51F4-4F88-9988-E5BF45D5048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McBride et al. · Proteins 94 (2026) 362–380 · doi:10.1002/prot.70062</a:t>
            </a:r>
          </a:p>
        </p:txBody>
      </p:sp>
      <p:sp>
        <p:nvSpPr>
          <p:cNvPr id="5" name="">
            <a:extLst xmlns:a="http://schemas.openxmlformats.org/drawingml/2006/main">
              <a:ext uri="{FF2B5EF4-FFF2-40B4-BE49-F238E27FC236}">
                <a16:creationId xmlns:a16="http://schemas.microsoft.com/office/drawing/2014/main" id="{042C1B2B-C266-4A3B-859B-A507F7875A0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
            <a:extLst xmlns:a="http://schemas.openxmlformats.org/drawingml/2006/main">
              <a:ext uri="{FF2B5EF4-FFF2-40B4-BE49-F238E27FC236}">
                <a16:creationId xmlns:a16="http://schemas.microsoft.com/office/drawing/2014/main" id="{99FC02B3-E1D7-49A6-A24F-E67E3C47A77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CASP16 tested linker-controlled domain motion</a:t>
            </a:r>
          </a:p>
        </p:txBody>
      </p:sp>
      <p:sp>
        <p:nvSpPr>
          <p:cNvPr id="7" name="">
            <a:extLst xmlns:a="http://schemas.openxmlformats.org/drawingml/2006/main">
              <a:ext uri="{FF2B5EF4-FFF2-40B4-BE49-F238E27FC236}">
                <a16:creationId xmlns:a16="http://schemas.microsoft.com/office/drawing/2014/main" id="{EFFDF975-5F8E-4BE9-9419-D7275E28BC8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blind community assessment compared predicted pose ensembles with SAXS and NMR measurements</a:t>
            </a:r>
          </a:p>
        </p:txBody>
      </p:sp>
      <p:graphicFrame>
        <p:nvGraphicFramePr>
          <p:cNvPr id="8" name="">
            <a:extLst xmlns:a="http://schemas.openxmlformats.org/drawingml/2006/main">
              <a:ext uri="{FF2B5EF4-FFF2-40B4-BE49-F238E27FC236}">
                <a16:creationId xmlns:a16="http://schemas.microsoft.com/office/drawing/2014/main" id="{651BD849-86F0-4D53-8793-BBAF5009E437}"/>
              </a:ext>
            </a:extLst>
          </p:cNvPr>
          <p:cNvGraphicFramePr/>
          <p:nvPr/>
        </p:nvGraphicFramePr>
        <p:xfrm>
          <a:off xmlns:a="http://schemas.openxmlformats.org/drawingml/2006/main" x="514350" y="1581150"/>
          <a:ext xmlns:a="http://schemas.openxmlformats.org/drawingml/2006/main" cx="11163300" cy="3829050"/>
        </p:xfrm>
        <a:graphic xmlns:a="http://schemas.openxmlformats.org/drawingml/2006/main">
          <a:graphicData uri="http://schemas.openxmlformats.org/drawingml/2006/table">
            <a:tbl>
              <a:tblPr/>
              <a:tblGrid>
                <a:gridCol w="2095500"/>
                <a:gridCol w="5000625"/>
                <a:gridCol w="4067175"/>
              </a:tblGrid>
              <a:tr h="638175">
                <a:tc>
                  <a:txBody>
                    <a:bodyPr/>
                    <a:lstStyle/>
                    <a:p>
                      <a:r>
                        <a:rPr sz="900" b="1">
                          <a:solidFill>
                            <a:srgbClr val="FFFFFF"/>
                          </a:solidFill>
                          <a:latin typeface="Arial"/>
                          <a:ea typeface="Arial"/>
                          <a:cs typeface="Arial"/>
                        </a:rPr>
                        <a:t>Assessment component</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the investigators did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matters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38175">
                <a:tc>
                  <a:txBody>
                    <a:bodyPr/>
                    <a:lstStyle/>
                    <a:p>
                      <a:r>
                        <a:rPr sz="878">
                          <a:solidFill>
                            <a:srgbClr val="F4F7F5"/>
                          </a:solidFill>
                          <a:latin typeface="Arial"/>
                          <a:ea typeface="Arial"/>
                          <a:cs typeface="Arial"/>
                        </a:rPr>
                        <a:t>Targets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Two Staphylococcal protein A domain-linker-domain constructs used KADNKF or GGGGGG</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Changing only the six-residue linker tested whether predictors captured linker-dependent behaviour</a:t>
                      </a:r>
                    </a:p>
                  </a:txBody>
                  <a:tcPr marL="91440" marR="91440" marT="45720" marB="45720">
                    <a:lnR w="9525">
                      <a:solidFill>
                        <a:srgbClr val="29433A"/>
                      </a:solidFill>
                      <a:prstDash val="solid"/>
                    </a:lnR>
                    <a:lnB w="9525">
                      <a:solidFill>
                        <a:srgbClr val="29433A"/>
                      </a:solidFill>
                      <a:prstDash val="solid"/>
                    </a:lnB>
                    <a:solidFill>
                      <a:srgbClr val="102720"/>
                    </a:solidFill>
                  </a:tcPr>
                </a:tc>
              </a:tr>
              <a:tr h="638175">
                <a:tc>
                  <a:txBody>
                    <a:bodyPr/>
                    <a:lstStyle/>
                    <a:p>
                      <a:r>
                        <a:rPr sz="878">
                          <a:solidFill>
                            <a:srgbClr val="F4F7F5"/>
                          </a:solidFill>
                          <a:latin typeface="Arial"/>
                          <a:ea typeface="Arial"/>
                          <a:cs typeface="Arial"/>
                        </a:rPr>
                        <a:t>Predictions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Twenty-five groups submitted 35 population-weighted ensembles of discrete structures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The target was a distribution of poses rather than one best PDB model</a:t>
                      </a:r>
                    </a:p>
                  </a:txBody>
                  <a:tcPr marL="91440" marR="91440" marT="45720" marB="45720">
                    <a:lnR w="9525">
                      <a:solidFill>
                        <a:srgbClr val="29433A"/>
                      </a:solidFill>
                      <a:prstDash val="solid"/>
                    </a:lnR>
                    <a:lnB w="9525">
                      <a:solidFill>
                        <a:srgbClr val="29433A"/>
                      </a:solidFill>
                      <a:prstDash val="solid"/>
                    </a:lnB>
                    <a:solidFill>
                      <a:srgbClr val="143128"/>
                    </a:solidFill>
                  </a:tcPr>
                </a:tc>
              </a:tr>
              <a:tr h="638175">
                <a:tc>
                  <a:txBody>
                    <a:bodyPr/>
                    <a:lstStyle/>
                    <a:p>
                      <a:r>
                        <a:rPr sz="878">
                          <a:solidFill>
                            <a:srgbClr val="F4F7F5"/>
                          </a:solidFill>
                          <a:latin typeface="Arial"/>
                          <a:ea typeface="Arial"/>
                          <a:cs typeface="Arial"/>
                        </a:rPr>
                        <a:t>SAXS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Solution scattering data were measured for both linker variants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SAXS reports global shape and interdomain distance distributions</a:t>
                      </a:r>
                    </a:p>
                  </a:txBody>
                  <a:tcPr marL="91440" marR="91440" marT="45720" marB="45720">
                    <a:lnR w="9525">
                      <a:solidFill>
                        <a:srgbClr val="29433A"/>
                      </a:solidFill>
                      <a:prstDash val="solid"/>
                    </a:lnR>
                    <a:lnB w="9525">
                      <a:solidFill>
                        <a:srgbClr val="29433A"/>
                      </a:solidFill>
                      <a:prstDash val="solid"/>
                    </a:lnB>
                    <a:solidFill>
                      <a:srgbClr val="102720"/>
                    </a:solidFill>
                  </a:tcPr>
                </a:tc>
              </a:tr>
              <a:tr h="638175">
                <a:tc>
                  <a:txBody>
                    <a:bodyPr/>
                    <a:lstStyle/>
                    <a:p>
                      <a:r>
                        <a:rPr sz="878">
                          <a:solidFill>
                            <a:srgbClr val="F4F7F5"/>
                          </a:solidFill>
                          <a:latin typeface="Arial"/>
                          <a:ea typeface="Arial"/>
                          <a:cs typeface="Arial"/>
                        </a:rPr>
                        <a:t>NMR RDC</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Residual dipolar couplings were measured for the WT KADNKF construct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RDCs provide residue-specific information about relative domain orientation</a:t>
                      </a:r>
                    </a:p>
                  </a:txBody>
                  <a:tcPr marL="91440" marR="91440" marT="45720" marB="45720">
                    <a:lnR w="9525">
                      <a:solidFill>
                        <a:srgbClr val="29433A"/>
                      </a:solidFill>
                      <a:prstDash val="solid"/>
                    </a:lnR>
                    <a:lnB w="9525">
                      <a:solidFill>
                        <a:srgbClr val="29433A"/>
                      </a:solidFill>
                      <a:prstDash val="solid"/>
                    </a:lnB>
                    <a:solidFill>
                      <a:srgbClr val="143128"/>
                    </a:solidFill>
                  </a:tcPr>
                </a:tc>
              </a:tr>
              <a:tr h="638175">
                <a:tc>
                  <a:txBody>
                    <a:bodyPr/>
                    <a:lstStyle/>
                    <a:p>
                      <a:r>
                        <a:rPr sz="878">
                          <a:solidFill>
                            <a:srgbClr val="F4F7F5"/>
                          </a:solidFill>
                          <a:latin typeface="Arial"/>
                          <a:ea typeface="Arial"/>
                          <a:cs typeface="Arial"/>
                        </a:rPr>
                        <a:t>Evaluation and result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The team back-calculated SAXS and RDC observables from each ensemble. None fit both closely or reproduced the WT–Gly6 SAXS difference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A plausible domain fold can still have an incorrect interdomain pose distribution</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2B250225-D577-4FD3-A6C5-88A824B3AD3B}"/>
              </a:ext>
            </a:extLst>
          </p:cNvPr>
          <p:cNvSpPr>
            <a:spLocks xmlns:a="http://schemas.openxmlformats.org/drawingml/2006/main" noGrp="1"/>
          </p:cNvSpPr>
          <p:nvPr/>
        </p:nvSpPr>
        <p:spPr>
          <a:xfrm xmlns:a="http://schemas.openxmlformats.org/drawingml/2006/main">
            <a:off x="628650" y="563880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
            <a:extLst xmlns:a="http://schemas.openxmlformats.org/drawingml/2006/main">
              <a:ext uri="{FF2B5EF4-FFF2-40B4-BE49-F238E27FC236}">
                <a16:creationId xmlns:a16="http://schemas.microsoft.com/office/drawing/2014/main" id="{D2195205-0837-4D24-9A60-42358F82F8B3}"/>
              </a:ext>
            </a:extLst>
          </p:cNvPr>
          <p:cNvSpPr>
            <a:spLocks xmlns:a="http://schemas.openxmlformats.org/drawingml/2006/main" noGrp="1"/>
          </p:cNvSpPr>
          <p:nvPr/>
        </p:nvSpPr>
        <p:spPr>
          <a:xfrm xmlns:a="http://schemas.openxmlformats.org/drawingml/2006/main">
            <a:off x="733425" y="58007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LINKERFORGE IMPLICATION</a:t>
            </a:r>
          </a:p>
        </p:txBody>
      </p:sp>
      <p:sp>
        <p:nvSpPr>
          <p:cNvPr id="11" name="">
            <a:extLst xmlns:a="http://schemas.openxmlformats.org/drawingml/2006/main">
              <a:ext uri="{FF2B5EF4-FFF2-40B4-BE49-F238E27FC236}">
                <a16:creationId xmlns:a16="http://schemas.microsoft.com/office/drawing/2014/main" id="{E5B19C70-0DDC-4968-90D3-675FFF967957}"/>
              </a:ext>
            </a:extLst>
          </p:cNvPr>
          <p:cNvSpPr>
            <a:spLocks xmlns:a="http://schemas.openxmlformats.org/drawingml/2006/main" noGrp="1"/>
          </p:cNvSpPr>
          <p:nvPr/>
        </p:nvSpPr>
        <p:spPr>
          <a:xfrm xmlns:a="http://schemas.openxmlformats.org/drawingml/2006/main">
            <a:off x="2714625" y="5715000"/>
            <a:ext cx="872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Static structure confidence cannot validate flexible interdomain motion. A future dynamics claim requires ensemble sampling followed by experimental restraints such as SAXS, NMR RDC or FRET.</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A60161-0C01-46AF-BFBA-F2483722A30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039270-EDBB-48B6-B1DF-E438F7DB97D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7270030-D41D-4AA8-8CD0-A7E7F68713A8}"/>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
            <a:extLst xmlns:a="http://schemas.openxmlformats.org/drawingml/2006/main">
              <a:ext uri="{FF2B5EF4-FFF2-40B4-BE49-F238E27FC236}">
                <a16:creationId xmlns:a16="http://schemas.microsoft.com/office/drawing/2014/main" id="{2DCF8FD9-4FF8-40FC-ADFA-722ED2A676D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
            <a:extLst xmlns:a="http://schemas.openxmlformats.org/drawingml/2006/main">
              <a:ext uri="{FF2B5EF4-FFF2-40B4-BE49-F238E27FC236}">
                <a16:creationId xmlns:a16="http://schemas.microsoft.com/office/drawing/2014/main" id="{21342DC3-8C21-4392-BDEA-849C26BE1D18}"/>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
            <a:extLst xmlns:a="http://schemas.openxmlformats.org/drawingml/2006/main">
              <a:ext uri="{FF2B5EF4-FFF2-40B4-BE49-F238E27FC236}">
                <a16:creationId xmlns:a16="http://schemas.microsoft.com/office/drawing/2014/main" id="{5CC5D919-97C2-45EB-98B2-8928A169F1CE}"/>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Where LinkerForge fits among existing methods</a:t>
            </a:r>
          </a:p>
        </p:txBody>
      </p:sp>
      <p:sp>
        <p:nvSpPr>
          <p:cNvPr id="7" name="">
            <a:extLst xmlns:a="http://schemas.openxmlformats.org/drawingml/2006/main">
              <a:ext uri="{FF2B5EF4-FFF2-40B4-BE49-F238E27FC236}">
                <a16:creationId xmlns:a16="http://schemas.microsoft.com/office/drawing/2014/main" id="{C5E84F8E-120C-4520-B5BD-C46927B130B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present distinction concerns workflow and evidence scope; predictive superiority has not been established</a:t>
            </a:r>
          </a:p>
        </p:txBody>
      </p:sp>
      <p:graphicFrame>
        <p:nvGraphicFramePr>
          <p:cNvPr id="8" name="">
            <a:extLst xmlns:a="http://schemas.openxmlformats.org/drawingml/2006/main">
              <a:ext uri="{FF2B5EF4-FFF2-40B4-BE49-F238E27FC236}">
                <a16:creationId xmlns:a16="http://schemas.microsoft.com/office/drawing/2014/main" id="{3A2AA5DF-F536-4351-9190-4371164F3275}"/>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Primary output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Context represented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Evidence currently available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57225">
                <a:tc>
                  <a:txBody>
                    <a:bodyPr/>
                    <a:lstStyle/>
                    <a:p>
                      <a:r>
                        <a:rPr sz="863">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Generated or retrieved linker candidates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Linker properties and curated templates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Generation and retrieval evidence. No matched experimental outcome benchmark</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Per-residue DFL score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One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Residue-level classification benchmarks for a different scientific task</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Fluorescence prediction and linker customization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370 linkers in one sfGFP–nanobody system plus AF2 features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Strong system-specific experimental evidence from measured fluorescence</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Structure model and confidence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Complete supplied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Computational confidence without functional or ensemble validation</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Pair-conditioned ranking with a matched evidence bundle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Both domains, attachment context, candidate, and full fusion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Three-pair computational acceptance panel. External and experimental evidence remain incomplete</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1BA2EF6B-FE3D-4B93-952E-CC0F115E44D9}"/>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
            <a:extLst xmlns:a="http://schemas.openxmlformats.org/drawingml/2006/main">
              <a:ext uri="{FF2B5EF4-FFF2-40B4-BE49-F238E27FC236}">
                <a16:creationId xmlns:a16="http://schemas.microsoft.com/office/drawing/2014/main" id="{4A361EED-A78C-47D2-A281-7944A22790CE}"/>
              </a:ext>
            </a:extLst>
          </p:cNvPr>
          <p:cNvSpPr>
            <a:spLocks xmlns:a="http://schemas.openxmlformats.org/drawingml/2006/main" noGrp="1"/>
          </p:cNvSpPr>
          <p:nvPr/>
        </p:nvSpPr>
        <p:spPr>
          <a:xfrm xmlns:a="http://schemas.openxmlformats.org/drawingml/2006/main">
            <a:off x="733425" y="59626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EVIDENCE INTERPRETATION</a:t>
            </a:r>
          </a:p>
        </p:txBody>
      </p:sp>
      <p:sp>
        <p:nvSpPr>
          <p:cNvPr id="11" name="">
            <a:extLst xmlns:a="http://schemas.openxmlformats.org/drawingml/2006/main">
              <a:ext uri="{FF2B5EF4-FFF2-40B4-BE49-F238E27FC236}">
                <a16:creationId xmlns:a16="http://schemas.microsoft.com/office/drawing/2014/main" id="{8946CE70-3F73-4A67-B422-27B3E03D0D7C}"/>
              </a:ext>
            </a:extLst>
          </p:cNvPr>
          <p:cNvSpPr>
            <a:spLocks xmlns:a="http://schemas.openxmlformats.org/drawingml/2006/main" noGrp="1"/>
          </p:cNvSpPr>
          <p:nvPr/>
        </p:nvSpPr>
        <p:spPr>
          <a:xfrm xmlns:a="http://schemas.openxmlformats.org/drawingml/2006/main">
            <a:off x="2628900" y="5895975"/>
            <a:ext cx="881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405"/>
          </a:bodyPr>
          <a:lstStyle xmlns:a="http://schemas.openxmlformats.org/drawingml/2006/main">
            <a:defPPr algn="l">
              <a:defRPr sz="1050" b="1" i="0">
                <a:solidFill>
                  <a:srgbClr val="F4F7F5"/>
                </a:solidFill>
                <a:latin typeface="Arial"/>
                <a:ea typeface="Arial"/>
                <a:cs typeface="Arial"/>
              </a:defRPr>
            </a:defPPr>
            <a:lvl1pPr algn="l">
              <a:defRPr sz="1050" b="1" i="0">
                <a:solidFill>
                  <a:srgbClr val="F4F7F5"/>
                </a:solidFill>
                <a:latin typeface="Arial"/>
                <a:ea typeface="Arial"/>
                <a:cs typeface="Arial"/>
              </a:defRPr>
            </a:lvl1pPr>
            <a:lvl2pPr algn="l">
              <a:defRPr sz="1050" b="1" i="0">
                <a:solidFill>
                  <a:srgbClr val="F4F7F5"/>
                </a:solidFill>
                <a:latin typeface="Arial"/>
                <a:ea typeface="Arial"/>
                <a:cs typeface="Arial"/>
              </a:defRPr>
            </a:lvl2pPr>
            <a:lvl3pPr algn="l">
              <a:defRPr sz="1050" b="1" i="0">
                <a:solidFill>
                  <a:srgbClr val="F4F7F5"/>
                </a:solidFill>
                <a:latin typeface="Arial"/>
                <a:ea typeface="Arial"/>
                <a:cs typeface="Arial"/>
              </a:defRPr>
            </a:lvl3pPr>
            <a:lvl4pPr algn="l">
              <a:defRPr sz="1050" b="1" i="0">
                <a:solidFill>
                  <a:srgbClr val="F4F7F5"/>
                </a:solidFill>
                <a:latin typeface="Arial"/>
                <a:ea typeface="Arial"/>
                <a:cs typeface="Arial"/>
              </a:defRPr>
            </a:lvl4pPr>
            <a:lvl5pPr algn="l">
              <a:defRPr sz="1050" b="1" i="0">
                <a:solidFill>
                  <a:srgbClr val="F4F7F5"/>
                </a:solidFill>
                <a:latin typeface="Arial"/>
                <a:ea typeface="Arial"/>
                <a:cs typeface="Arial"/>
              </a:defRPr>
            </a:lvl5pPr>
            <a:lvl6pPr algn="l">
              <a:defRPr sz="1050" b="1" i="0">
                <a:solidFill>
                  <a:srgbClr val="F4F7F5"/>
                </a:solidFill>
                <a:latin typeface="Arial"/>
                <a:ea typeface="Arial"/>
                <a:cs typeface="Arial"/>
              </a:defRPr>
            </a:lvl6pPr>
            <a:lvl7pPr algn="l">
              <a:defRPr sz="1050" b="1" i="0">
                <a:solidFill>
                  <a:srgbClr val="F4F7F5"/>
                </a:solidFill>
                <a:latin typeface="Arial"/>
                <a:ea typeface="Arial"/>
                <a:cs typeface="Arial"/>
              </a:defRPr>
            </a:lvl7pPr>
            <a:lvl8pPr algn="l">
              <a:defRPr sz="1050" b="1" i="0">
                <a:solidFill>
                  <a:srgbClr val="F4F7F5"/>
                </a:solidFill>
                <a:latin typeface="Arial"/>
                <a:ea typeface="Arial"/>
                <a:cs typeface="Arial"/>
              </a:defRPr>
            </a:lvl8pPr>
            <a:lvl9pPr algn="l">
              <a:defRPr sz="1050" b="1" i="0">
                <a:solidFill>
                  <a:srgbClr val="F4F7F5"/>
                </a:solidFill>
                <a:latin typeface="Arial"/>
                <a:ea typeface="Arial"/>
                <a:cs typeface="Arial"/>
              </a:defRPr>
            </a:lvl9pPr>
          </a:lstStyle>
          <a:p xmlns:a="http://schemas.openxmlformats.org/drawingml/2006/main">
            <a:pPr algn="l">
              <a:defRPr sz="1050" b="1" i="0">
                <a:solidFill>
                  <a:srgbClr val="F4F7F5"/>
                </a:solidFill>
                <a:latin typeface="Arial"/>
                <a:ea typeface="Arial"/>
                <a:cs typeface="Arial"/>
              </a:defRPr>
            </a:pPr>
            <a:r>
              <a:rPr sz="1050" b="1" i="0">
                <a:solidFill>
                  <a:srgbClr val="F4F7F5"/>
                </a:solidFill>
                <a:latin typeface="Arial"/>
                <a:ea typeface="Arial"/>
                <a:cs typeface="Arial"/>
              </a:rPr>
              <a:t>Li et al. provides stronger system-specific experimental evidence. CASP16 shows why a confident single structure cannot validate flexible interdomain pose distributions. LinkerForge currently supplies computational evidence only.</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Unresolved research gap</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questions and evidence</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Traceable workflow from sequence design to evidence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pair-conditioned compatibility model</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training and evaluation logic</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composition and permitted uses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3A7F8CB2-737F-467F-A05E-BD4C5C3122BF}"/>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Annotation protocol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that protect the scientific claim</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Implemented candidate controls and future ranking</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97DE238E-8750-423A-9AF5-5FE1CB26C64B}"/>
              </a:ext>
            </a:extLst>
          </p:cNvPr>
          <p:cNvPicPr>
            <a:picLocks xmlns:a="http://schemas.openxmlformats.org/drawingml/2006/main" noChangeAspect="1"/>
          </p:cNvPicPr>
          <p:nvPr/>
        </p:nvPicPr>
        <p:blipFill>
          <a:blip xmlns:r="http://schemas.openxmlformats.org/officeDocument/2006/relationships" xmlns:a="http://schemas.openxmlformats.org/drawingml/2006/main" r:embed="Rb91220c0a1e74fa9"/>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187FC12E-E784-4E21-92B8-0EC5BBDBBFEF}"/>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304b850a80ec46df"/>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2FCDBD53-D900-46AC-9350-29010093E3F7}"/>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17729b97279e4470"/>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Evidence contributed by each executed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interface for design and structural review</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8A3972EA-01A6-447E-BC39-5BB00049D729}"/>
              </a:ext>
            </a:extLst>
          </p:cNvPr>
          <p:cNvPicPr>
            <a:picLocks xmlns:a="http://schemas.openxmlformats.org/drawingml/2006/main" noChangeAspect="1"/>
          </p:cNvPicPr>
          <p:nvPr/>
        </p:nvPicPr>
        <p:blipFill>
          <a:blip xmlns:r="http://schemas.openxmlformats.org/officeDocument/2006/relationships" xmlns:a="http://schemas.openxmlformats.org/drawingml/2006/main" r:embed="R8ecd68f396364fa6"/>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 and unresolved evidence</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A6549E66-BDF5-4DC9-BE06-EF233701957B}"/>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B119EE9-0E86-4536-B46C-A81E6AFD1D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8F406F-B012-47DB-80FA-CE939D18288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2E75D310-4E03-4EDB-80F6-01380B7A0238}"/>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19FE4EE2-181F-4814-803A-89BA318E57C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3B89345A-C683-44E1-BF17-68A105A4090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885C313F-5B1D-4F85-A59D-8051C5D8F4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a:t>
            </a:r>
          </a:p>
        </p:txBody>
      </p:sp>
      <p:sp>
        <p:nvSpPr>
          <p:cNvPr id="7" name="">
            <a:extLst xmlns:a="http://schemas.openxmlformats.org/drawingml/2006/main">
              <a:ext uri="{FF2B5EF4-FFF2-40B4-BE49-F238E27FC236}">
                <a16:creationId xmlns:a16="http://schemas.microsoft.com/office/drawing/2014/main" id="{860EF80B-C203-4893-89EA-258DE7EF9AA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C0CB40EB-1242-4F3C-A373-D3AB96A5BD18}"/>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F5B04F0E-961B-46F9-9222-7A777943FC17}"/>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C3E21BB-D34C-4672-8B63-B3720FBDF3A1}"/>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1C928A3F-B4E9-410B-B2A5-D9E80598B84A}"/>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26CC7271-BBEB-421A-B215-BA35D1C36D0E}"/>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206C4ADC-D9F5-4D8B-ACEC-CAD4F3FCB0C7}"/>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1469E87C-FDDF-44DB-A283-54783013817F}"/>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A4CD62D-CE29-423A-BBB7-FC23F2BB4C64}"/>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C39C0618-60A6-43C7-B5F8-EF1173A6B39A}"/>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55C01487-28A9-4CC6-898E-9E9A69F4489F}"/>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6F1C8690-22C4-4F55-887A-A79374317678}"/>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3CC9D542-84B3-43BA-AF4C-167FC8605A2F}"/>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962F7F8-EC9D-4E01-9F87-18BA6B57FE8F}"/>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ABA2AD26-FC4B-4D16-89C9-B5E76C428124}"/>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11796B7E-7A37-4B43-8ED3-0CAD7C7CCB38}"/>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D28B645F-F3EC-4509-B61F-F00AEE626F3D}"/>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BD74CE82-0D98-443E-984A-44417C5A25D6}"/>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4F6FFE8-D880-43AC-AA37-D6AC3A006DA5}"/>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BBE1014E-2FF9-4EF5-A500-8CDA8C903905}"/>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B0E318DA-E774-4890-9599-4CDA5146106D}"/>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95BBF3F3-4811-4ABF-9A3A-F9E1BFC56AA5}"/>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343630062"/>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7A0D226-4992-4253-AAFC-624DEB13BF4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D8B2B1-B0CE-4840-AFD2-1DE7497500F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2949160-424D-4F46-8B01-D8FD748AAD5E}"/>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26D8BDC0-D146-49C8-AC98-DFB154FC28A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B4B75244-8807-4E9B-8212-04CF12B4152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F6DAAF66-7EFB-4CE5-A6AB-B31CBF0EB26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construct</a:t>
            </a:r>
          </a:p>
        </p:txBody>
      </p:sp>
      <p:sp>
        <p:nvSpPr>
          <p:cNvPr id="7" name="">
            <a:extLst xmlns:a="http://schemas.openxmlformats.org/drawingml/2006/main">
              <a:ext uri="{FF2B5EF4-FFF2-40B4-BE49-F238E27FC236}">
                <a16:creationId xmlns:a16="http://schemas.microsoft.com/office/drawing/2014/main" id="{171A5C40-583C-4642-8AC5-D81EF5F638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FDEE393C-B28D-4617-8643-AED9BB8DB28B}"/>
              </a:ext>
            </a:extLst>
          </p:cNvPr>
          <p:cNvPicPr>
            <a:picLocks xmlns:a="http://schemas.openxmlformats.org/drawingml/2006/main" noChangeAspect="1"/>
          </p:cNvPicPr>
          <p:nvPr/>
        </p:nvPicPr>
        <p:blipFill>
          <a:blip xmlns:r="http://schemas.openxmlformats.org/officeDocument/2006/relationships" xmlns:a="http://schemas.openxmlformats.org/drawingml/2006/main" r:embed="R7617c0ddcbb0445e"/>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2ED3285-8548-45BF-B92F-E648CD59E60D}"/>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B2D80D37-5F5C-4294-94C4-5F096C61B144}"/>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A369759F-A43A-4D11-A47D-38E79B86A320}"/>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0714ED24-6E57-40D6-AF78-C4663B544649}"/>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B5A105C2-33C1-4A96-B098-C8A6E0A90190}"/>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CE0A14C7-4DEB-4E45-8CF5-BBCE8EFF3002}"/>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382E6360-1603-4AAF-956E-B4BA487A548A}"/>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BF5941BC-9CAC-45D2-A0C1-73E32D8B7F0B}"/>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189A99C2-4355-456C-AC28-8C53976108C3}"/>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F407F9CD-E35C-4445-A902-C0126F29453D}"/>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5857B1B9-4A60-42B0-820F-D3E1B827FB4C}"/>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469D377B-3EC1-42D3-9ED4-E1B63FE9800B}"/>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1924540841"/>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4E6D6D-865E-49FE-974A-45D512F5A4B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567B1D-235F-4167-9FFE-A79212C6E5D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611FCE64-5BE6-427A-BE8B-F7B7250C71F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5C82A2D7-598C-4845-A697-57D4478ED33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2D2A9953-9AB9-4BFC-AF54-108D875178D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CD520403-6262-4A35-9B13-160D929915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Structure-confidence comparison across three protein pairs</a:t>
            </a:r>
          </a:p>
        </p:txBody>
      </p:sp>
      <p:sp>
        <p:nvSpPr>
          <p:cNvPr id="7" name="">
            <a:extLst xmlns:a="http://schemas.openxmlformats.org/drawingml/2006/main">
              <a:ext uri="{FF2B5EF4-FFF2-40B4-BE49-F238E27FC236}">
                <a16:creationId xmlns:a16="http://schemas.microsoft.com/office/drawing/2014/main" id="{297BD057-4D0E-4368-ABC6-21EE13700DA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B9828E41-2FB7-4067-9A40-76D16F471E8D}"/>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3438d76b2faa4972"/>
          </a:graphicData>
        </a:graphic>
      </p:graphicFrame>
      <p:sp>
        <p:nvSpPr>
          <p:cNvPr id="9" name="">
            <a:extLst xmlns:a="http://schemas.openxmlformats.org/drawingml/2006/main">
              <a:ext uri="{FF2B5EF4-FFF2-40B4-BE49-F238E27FC236}">
                <a16:creationId xmlns:a16="http://schemas.microsoft.com/office/drawing/2014/main" id="{6DB26AB1-5A73-4BDC-845A-87C517403021}"/>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52279208-C758-47FC-B4F4-6E15695AD580}"/>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C493C6A4-9EE6-4D1A-A3A9-2486ADC0E308}"/>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1715989552"/>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719FD0-3718-4FAF-A828-82B1E4AA770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714832-A475-4F3D-8845-B3B6EE34CD7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40F127BC-8920-4F35-A9CD-7F83D181BCFB}"/>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49E99AC6-B9FC-4DF6-8036-D35BF13E4F4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FE387FCB-F25B-4FFA-B3DD-8B14884C0F1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75182A56-965D-4322-AC2E-998F799DE65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7DBD4BFE-E80A-4B8F-A16D-9336DA4B56A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7F551247-9EC0-41B5-8E1C-A370E3B3E5C2}"/>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98C93678-DC50-447F-B708-16E236EE7411}"/>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20FC0D56-2C12-4B22-B1DC-4A601FB0DD5C}"/>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D00474AB-B037-4CE8-BB98-897B2A747481}"/>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301322582"/>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837EED-AE8C-41A7-87A8-633B30525A5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311332-2391-418B-AD92-3B7FD2A39CC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B068A40-0EEC-4F99-95CF-9198480EE28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1691A105-9FC1-4F8E-B8B5-AA1A24F64F4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EE29EB71-595E-43D3-957E-B73C716FF33B}"/>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0B755BF0-E93F-463B-9B26-0E1BA942D12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F38B7FB8-3591-496F-A8D9-3959074C8F2E}"/>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C9FB54B6-2F6D-40B0-9CE9-6B7AB0688EC7}"/>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274D29C0-77D4-49CE-B9C1-377E482B43A2}"/>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CA6F031C-60BF-4053-9310-A8CA149F9CD6}"/>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60A3397E-9625-4E74-9188-2689F693E988}"/>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2032264075"/>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C51AD8-FFAA-492D-B540-6B1C17810E4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0DE099-E598-4EFA-B8BF-4FAEABB07E3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BA80DBF1-24A5-42A6-B2C4-746DAB00819B}"/>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4D87DD93-0DAE-46DC-9005-AE1F82F3A78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F5AB7357-A2D3-4BB8-9EEE-A1DC20C2B26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D81C4C31-702B-4560-8192-4B4027AF47B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E173393C-D551-4E58-9D18-EF2D6603C98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D3DD56C7-E1E3-4F1A-BC9C-A0933E769742}"/>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552EB337-598B-46B0-9CB7-5400130904E1}"/>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A3B44D86-8547-405F-AF0B-0066846D19A9}"/>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C5B26BA5-6406-4CA3-8FC0-0AEC004060EC}"/>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28235110"/>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E7EA259-99D4-4756-915E-8496D2FF715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157D78-98B1-4705-B029-15B590B4779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2E6F4CF-7918-4EE4-B20D-9DB7F2F49030}"/>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5C1B8727-0A9A-46BB-9E8D-48D55B74E0D4}"/>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8C86CD64-17FC-4B49-81EF-099AAEED23A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B1585C76-0C5C-478D-BFF3-B01C8005B8DD}"/>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Interpreting AlphaFold and ColabFold confidence</a:t>
            </a:r>
          </a:p>
        </p:txBody>
      </p:sp>
      <p:sp>
        <p:nvSpPr>
          <p:cNvPr id="7" name="">
            <a:extLst xmlns:a="http://schemas.openxmlformats.org/drawingml/2006/main">
              <a:ext uri="{FF2B5EF4-FFF2-40B4-BE49-F238E27FC236}">
                <a16:creationId xmlns:a16="http://schemas.microsoft.com/office/drawing/2014/main" id="{DD3D3199-CFBE-4808-8F5F-10CDA5DA3D6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52F7C2E6-A185-4A1D-8E10-0B82FE5E8A89}"/>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563CA817-08F6-4A94-8E03-FD857DB822E7}"/>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B6C130-7834-413D-8BCE-17A144AFDAE8}"/>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A9FB79F2-D0F5-40ED-A8BE-DE6FCEA739CF}"/>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B7F45A7A-056C-4A36-A755-94B3DF428A3D}"/>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A2A52F84-0DC3-4594-97E7-2EF48E73FBE7}"/>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57087AAF-1CE6-4E2D-B9B5-54CDDA087906}"/>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B6679D1-1B79-4D04-A0C4-B53306F40394}"/>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5D68EC2A-B80F-403A-A676-672962DE5C1F}"/>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7729D9C8-8740-4F74-8778-87956D1E0AC4}"/>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08A8177E-F795-428D-A13E-429FA99A6FF9}"/>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AB23012E-2B6E-4469-BE6A-A566E7B89EFE}"/>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D9744CF-056A-4F34-AE0F-4117CDAFC6C7}"/>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A0E41EB7-2E73-4CF8-95CB-E1D58FAF7FD6}"/>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46F97E12-81A1-4838-8EC3-FA374D6DB652}"/>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D6A48601-2CF2-427C-AC74-8752B819323D}"/>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A05E4EC8-CD5C-4ACE-A9DB-8F9DF419AD9A}"/>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0366831-3642-46CA-8617-E0694F303F3D}"/>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E4ECCBF3-C5AD-4002-AA85-BC8303BC7D87}"/>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0E8A5B4C-A32D-4E82-AA89-80F1654B420C}"/>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BC8BF0CA-BDD8-4709-B028-141BBD334613}"/>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366C755E-A043-435B-96D5-9DBD5308DF6A}"/>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59670E95-7EEB-4071-B537-72AF63ECBA48}"/>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1026812601"/>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BCD6D41-A802-4C16-9955-C9EEBE8C92E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1D3304-2928-480A-8C59-3E038266488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081F45D-BBCC-42D9-8E6E-BA3EFD2615A6}"/>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BBFE4106-5EE3-490A-98C7-706E30DF0B1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9D5A1EEE-95B8-4DFB-B105-0A69ED73D34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83FAFCB6-0A19-4983-A73F-80BC73B81DED}"/>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Traceability from input sequence to reported figure</a:t>
            </a:r>
          </a:p>
        </p:txBody>
      </p:sp>
      <p:sp>
        <p:nvSpPr>
          <p:cNvPr id="7" name="">
            <a:extLst xmlns:a="http://schemas.openxmlformats.org/drawingml/2006/main">
              <a:ext uri="{FF2B5EF4-FFF2-40B4-BE49-F238E27FC236}">
                <a16:creationId xmlns:a16="http://schemas.microsoft.com/office/drawing/2014/main" id="{697B19B0-6B66-4028-9364-1A2227FB157E}"/>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run artifacts remain the scientific record; this deck presents a selected view</a:t>
            </a:r>
          </a:p>
        </p:txBody>
      </p:sp>
      <p:sp>
        <p:nvSpPr>
          <p:cNvPr id="8" name="">
            <a:extLst xmlns:a="http://schemas.openxmlformats.org/drawingml/2006/main">
              <a:ext uri="{FF2B5EF4-FFF2-40B4-BE49-F238E27FC236}">
                <a16:creationId xmlns:a16="http://schemas.microsoft.com/office/drawing/2014/main" id="{81D36B04-4325-44DB-8BAA-7663F039B0D8}"/>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74A26D28-A1EF-409F-BD37-EF7383DD57D6}"/>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0CC21A-13D7-4A74-9790-3C1F5805646D}"/>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56588048-B51D-4A2C-9621-27435A0308BF}"/>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212AD2C6-17BA-4372-90F5-952BC791110D}"/>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729F5BB7-53D0-4136-BC60-F516F1AE5996}"/>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2F8855DB-3FEC-4B5C-AC4D-0CAAC365BBCD}"/>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CC57BDCD-BFA4-47C5-B731-733CB526F775}"/>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ACF9AB5-A836-4F51-8553-8B256EA5A25C}"/>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D1818BA5-A60D-42D7-8F8E-84D15EF07F02}"/>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FE8C14D4-0435-4384-9699-4E6A02A277B7}"/>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56FCB56A-0856-4421-BA44-D8D53CC860B2}"/>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7746DE3E-4836-4BD5-B200-DE6EC10045FE}"/>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01E94344-5EED-417C-A096-8E823DC2573B}"/>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0D45003-D458-4525-B20D-BC038ABC7C25}"/>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B1F02D95-EE85-4F46-AD1D-972E7AACD913}"/>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169065A4-8188-48E6-BC59-714866BA89C6}"/>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9F37F254-A4D0-40BC-987F-60EAF7ADBC67}"/>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FF519987-4DE3-4977-94DE-E4108C11837A}"/>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A1A3FB7F-BEF6-426F-A13F-17FAC4FEBB62}"/>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7F535F2-805E-46F0-9F99-198842E808F4}"/>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538E4D66-597B-4501-A5A4-A415D742E38D}"/>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E6EB0DE5-B85C-45BF-8612-7004EEB60783}"/>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DEB94183-C785-4115-B35B-A27971BA4CE1}"/>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BBD7DD98-AF35-47D8-B559-B9C4B102C566}"/>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E9B6CC49-AB94-4EBB-8213-F508FFEBD972}"/>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226F768-7844-4697-B979-036735368E6B}"/>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C2A59D62-FFED-42C7-B46D-B322C239971B}"/>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2A71EAE3-9151-4719-8A54-A9EA1A9CAD17}"/>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19E01A65-8032-4AC9-8650-2E77EA5818F5}"/>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244719531"/>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6C914E-9205-42B7-AC02-3518810D5C7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4F5A68-10EC-4A38-9591-F44672B1584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B808FAC-67D7-44F5-8CA4-34493D11E6B9}"/>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39B0ABD7-7913-4DC2-9117-011F45FD35F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2BDCE31F-5981-4394-8A6D-7B7C62DE615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7E913451-A813-4787-8C51-D15542942B02}"/>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structural analyses</a:t>
            </a:r>
          </a:p>
        </p:txBody>
      </p:sp>
      <p:sp>
        <p:nvSpPr>
          <p:cNvPr id="7" name="">
            <a:extLst xmlns:a="http://schemas.openxmlformats.org/drawingml/2006/main">
              <a:ext uri="{FF2B5EF4-FFF2-40B4-BE49-F238E27FC236}">
                <a16:creationId xmlns:a16="http://schemas.microsoft.com/office/drawing/2014/main" id="{BF2459F8-E4B8-4E5D-80D2-D325E3E647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32686191-CF43-477A-BB85-890F5AD90CB9}"/>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39311CA0-C4F2-451F-BF75-4F6F24B1F0C7}"/>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FB327BD7-461B-41A2-A099-D4A876429329}"/>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102370155"/>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Current evidence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2026-10-22T10:26:00.1640000Z</dcterms:created>
  <dcterms:modified xsi:type="dcterms:W3CDTF">2026-10-22T10:26:00.1640000Z</dcterms:modified>
</coreProperties>
</file>